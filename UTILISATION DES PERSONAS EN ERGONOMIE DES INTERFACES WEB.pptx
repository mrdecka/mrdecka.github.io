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56" r:id="rId2"/>
    <p:sldId id="257" r:id="rId3"/>
    <p:sldId id="258" r:id="rId4"/>
    <p:sldId id="259" r:id="rId5"/>
    <p:sldId id="263" r:id="rId6"/>
    <p:sldId id="261" r:id="rId7"/>
    <p:sldId id="273" r:id="rId8"/>
    <p:sldId id="268" r:id="rId9"/>
    <p:sldId id="262" r:id="rId10"/>
    <p:sldId id="264" r:id="rId11"/>
    <p:sldId id="265" r:id="rId12"/>
    <p:sldId id="274" r:id="rId13"/>
    <p:sldId id="270" r:id="rId14"/>
    <p:sldId id="271" r:id="rId15"/>
    <p:sldId id="275" r:id="rId16"/>
    <p:sldId id="276" r:id="rId17"/>
    <p:sldId id="272" r:id="rId18"/>
    <p:sldId id="267" r:id="rId19"/>
    <p:sldId id="26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9B9C08-C00D-409C-8581-C1F01839D905}" type="datetimeFigureOut">
              <a:rPr lang="fr-FR" smtClean="0"/>
              <a:t>15/12/2022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B2002D-F763-4851-AAC3-87203E902BEF}" type="slidenum">
              <a:rPr lang="fr-FR" smtClean="0"/>
              <a:t>‹N°›</a:t>
            </a:fld>
            <a:endParaRPr lang="fr-FR"/>
          </a:p>
        </p:txBody>
      </p:sp>
    </p:spTree>
    <p:extLst>
      <p:ext uri="{BB962C8B-B14F-4D97-AF65-F5344CB8AC3E}">
        <p14:creationId xmlns:p14="http://schemas.microsoft.com/office/powerpoint/2010/main" val="2393585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smtClean="0"/>
              <a:pPr/>
              <a:t>12/15/2022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12/15/2022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12/15/2022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12/15/2022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12/15/2022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2A54C80-263E-416B-A8E0-580EDEADCBDC}" type="datetimeFigureOut">
              <a:rPr lang="en-US" smtClean="0"/>
              <a:t>12/15/2022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smtClean="0"/>
              <a:pPr/>
              <a:t>12/15/2022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smtClean="0"/>
              <a:pPr/>
              <a:t>12/15/2022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smtClean="0"/>
              <a:pPr/>
              <a:t>12/15/2022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smtClean="0"/>
              <a:pPr/>
              <a:t>12/15/2022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smtClean="0"/>
              <a:pPr/>
              <a:t>12/15/2022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smtClean="0"/>
              <a:pPr/>
              <a:t>12/15/2022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12/15/2022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12/15/2022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fr.wikipedia.org/wiki/Alan_Cooper"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fr.wikipedia.org/wiki/Persona_(ergonomie)#cite_note-4" TargetMode="External"/><Relationship Id="rId2" Type="http://schemas.openxmlformats.org/officeDocument/2006/relationships/hyperlink" Target="https://www.researchgate.net/profile/Christopher-Chapman-11" TargetMode="External"/><Relationship Id="rId1" Type="http://schemas.openxmlformats.org/officeDocument/2006/relationships/slideLayout" Target="../slideLayouts/slideLayout2.xml"/><Relationship Id="rId4" Type="http://schemas.openxmlformats.org/officeDocument/2006/relationships/hyperlink" Target="https://fr.wikipedia.org/wiki/Persona_(ergonomie)#cite_note-5"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7B8A30-ACC1-5168-BB3B-B874512BE8A5}"/>
              </a:ext>
            </a:extLst>
          </p:cNvPr>
          <p:cNvSpPr>
            <a:spLocks noGrp="1"/>
          </p:cNvSpPr>
          <p:nvPr>
            <p:ph type="ctrTitle"/>
          </p:nvPr>
        </p:nvSpPr>
        <p:spPr>
          <a:xfrm>
            <a:off x="426129" y="2466678"/>
            <a:ext cx="9721048" cy="1646302"/>
          </a:xfrm>
        </p:spPr>
        <p:txBody>
          <a:bodyPr/>
          <a:lstStyle/>
          <a:p>
            <a:pPr algn="ctr"/>
            <a:r>
              <a:rPr lang="fr-FR" sz="5000" dirty="0"/>
              <a:t>UTILISATION DES PERSONAS EN ERGONOMIE DES INTERFACES WEB</a:t>
            </a:r>
          </a:p>
        </p:txBody>
      </p:sp>
      <p:sp>
        <p:nvSpPr>
          <p:cNvPr id="8" name="ZoneTexte 7">
            <a:extLst>
              <a:ext uri="{FF2B5EF4-FFF2-40B4-BE49-F238E27FC236}">
                <a16:creationId xmlns:a16="http://schemas.microsoft.com/office/drawing/2014/main" id="{44B2E902-D6FB-7905-BC02-A9666B0935CA}"/>
              </a:ext>
            </a:extLst>
          </p:cNvPr>
          <p:cNvSpPr txBox="1"/>
          <p:nvPr/>
        </p:nvSpPr>
        <p:spPr>
          <a:xfrm>
            <a:off x="603682" y="4398260"/>
            <a:ext cx="4296792" cy="369332"/>
          </a:xfrm>
          <a:prstGeom prst="rect">
            <a:avLst/>
          </a:prstGeom>
          <a:noFill/>
        </p:spPr>
        <p:txBody>
          <a:bodyPr wrap="square" rtlCol="0">
            <a:spAutoFit/>
          </a:bodyPr>
          <a:lstStyle/>
          <a:p>
            <a:r>
              <a:rPr lang="fr-FR" dirty="0"/>
              <a:t>Présenté par : Mériadeck AMOUSSOU</a:t>
            </a:r>
          </a:p>
        </p:txBody>
      </p:sp>
      <p:sp>
        <p:nvSpPr>
          <p:cNvPr id="9" name="ZoneTexte 8">
            <a:extLst>
              <a:ext uri="{FF2B5EF4-FFF2-40B4-BE49-F238E27FC236}">
                <a16:creationId xmlns:a16="http://schemas.microsoft.com/office/drawing/2014/main" id="{86419787-726F-C6D8-85A3-5F41D1EC62AD}"/>
              </a:ext>
            </a:extLst>
          </p:cNvPr>
          <p:cNvSpPr txBox="1"/>
          <p:nvPr/>
        </p:nvSpPr>
        <p:spPr>
          <a:xfrm>
            <a:off x="4900474" y="5274814"/>
            <a:ext cx="4875322" cy="369332"/>
          </a:xfrm>
          <a:prstGeom prst="rect">
            <a:avLst/>
          </a:prstGeom>
          <a:noFill/>
        </p:spPr>
        <p:txBody>
          <a:bodyPr wrap="square" rtlCol="0">
            <a:spAutoFit/>
          </a:bodyPr>
          <a:lstStyle/>
          <a:p>
            <a:r>
              <a:rPr lang="fr-FR" dirty="0"/>
              <a:t>Sous la Supervision de : Mme Rose GOHOUE</a:t>
            </a:r>
          </a:p>
        </p:txBody>
      </p:sp>
    </p:spTree>
    <p:extLst>
      <p:ext uri="{BB962C8B-B14F-4D97-AF65-F5344CB8AC3E}">
        <p14:creationId xmlns:p14="http://schemas.microsoft.com/office/powerpoint/2010/main" val="3238473512"/>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17CA5C-1A7E-1146-2F7E-B6EEAA861171}"/>
              </a:ext>
            </a:extLst>
          </p:cNvPr>
          <p:cNvSpPr>
            <a:spLocks noGrp="1"/>
          </p:cNvSpPr>
          <p:nvPr>
            <p:ph type="title"/>
          </p:nvPr>
        </p:nvSpPr>
        <p:spPr>
          <a:xfrm>
            <a:off x="677334" y="297403"/>
            <a:ext cx="8596668" cy="597763"/>
          </a:xfrm>
        </p:spPr>
        <p:txBody>
          <a:bodyPr>
            <a:noAutofit/>
          </a:bodyPr>
          <a:lstStyle/>
          <a:p>
            <a:pPr algn="ctr"/>
            <a:r>
              <a:rPr lang="fr-FR" sz="4000" dirty="0"/>
              <a:t>PLAN</a:t>
            </a:r>
          </a:p>
        </p:txBody>
      </p:sp>
      <p:sp>
        <p:nvSpPr>
          <p:cNvPr id="3" name="Espace réservé du contenu 2">
            <a:extLst>
              <a:ext uri="{FF2B5EF4-FFF2-40B4-BE49-F238E27FC236}">
                <a16:creationId xmlns:a16="http://schemas.microsoft.com/office/drawing/2014/main" id="{3C8DC946-4FFC-754F-7CEC-27EF7968D171}"/>
              </a:ext>
            </a:extLst>
          </p:cNvPr>
          <p:cNvSpPr>
            <a:spLocks noGrp="1"/>
          </p:cNvSpPr>
          <p:nvPr>
            <p:ph idx="1"/>
          </p:nvPr>
        </p:nvSpPr>
        <p:spPr>
          <a:xfrm>
            <a:off x="677334" y="895166"/>
            <a:ext cx="8596668" cy="5576655"/>
          </a:xfrm>
        </p:spPr>
        <p:txBody>
          <a:bodyPr>
            <a:normAutofit fontScale="92500" lnSpcReduction="10000"/>
          </a:bodyPr>
          <a:lstStyle/>
          <a:p>
            <a:r>
              <a:rPr lang="fr-FR" sz="2000" dirty="0"/>
              <a:t>INTRODUCTION</a:t>
            </a:r>
          </a:p>
          <a:p>
            <a:pPr marL="400050" indent="-400050">
              <a:buFont typeface="+mj-lt"/>
              <a:buAutoNum type="romanUcPeriod"/>
            </a:pPr>
            <a:r>
              <a:rPr lang="fr-FR" sz="2000" dirty="0"/>
              <a:t>Ergonomie des Interfaces Web</a:t>
            </a:r>
          </a:p>
          <a:p>
            <a:pPr marL="400050" indent="-400050">
              <a:buFont typeface="+mj-lt"/>
              <a:buAutoNum type="romanUcPeriod"/>
            </a:pPr>
            <a:r>
              <a:rPr lang="fr-FR" sz="2000" dirty="0"/>
              <a:t>Méthode des </a:t>
            </a:r>
            <a:r>
              <a:rPr lang="fr-FR" sz="2000" dirty="0" err="1"/>
              <a:t>Personas</a:t>
            </a:r>
            <a:r>
              <a:rPr lang="fr-FR" sz="2000" dirty="0"/>
              <a:t> en Ergonomie</a:t>
            </a:r>
          </a:p>
          <a:p>
            <a:pPr lvl="1" indent="-342900">
              <a:buFont typeface="+mj-lt"/>
              <a:buAutoNum type="alphaLcPeriod"/>
            </a:pPr>
            <a:r>
              <a:rPr lang="fr-FR" sz="1800" dirty="0"/>
              <a:t>Origines	</a:t>
            </a:r>
          </a:p>
          <a:p>
            <a:pPr lvl="1" indent="-342900">
              <a:buFont typeface="+mj-lt"/>
              <a:buAutoNum type="alphaLcPeriod"/>
            </a:pPr>
            <a:r>
              <a:rPr lang="fr-FR" sz="1800" dirty="0"/>
              <a:t>Un Persona, C’est Quoi ?</a:t>
            </a:r>
          </a:p>
          <a:p>
            <a:pPr lvl="1" indent="-342900">
              <a:buFont typeface="+mj-lt"/>
              <a:buAutoNum type="alphaLcPeriod"/>
            </a:pPr>
            <a:r>
              <a:rPr lang="fr-FR" sz="1800" dirty="0"/>
              <a:t>A Quoi Servent les </a:t>
            </a:r>
            <a:r>
              <a:rPr lang="fr-FR" sz="1800" dirty="0" err="1"/>
              <a:t>Personas</a:t>
            </a:r>
            <a:r>
              <a:rPr lang="fr-FR" sz="1800" dirty="0"/>
              <a:t> ?</a:t>
            </a:r>
          </a:p>
          <a:p>
            <a:pPr lvl="1" indent="-342900">
              <a:buFont typeface="+mj-lt"/>
              <a:buAutoNum type="alphaLcPeriod"/>
            </a:pPr>
            <a:r>
              <a:rPr lang="fr-FR" sz="1800" dirty="0"/>
              <a:t>Avantages</a:t>
            </a:r>
          </a:p>
          <a:p>
            <a:pPr lvl="1" indent="-342900">
              <a:buFont typeface="+mj-lt"/>
              <a:buAutoNum type="alphaLcPeriod"/>
            </a:pPr>
            <a:r>
              <a:rPr lang="fr-FR" sz="1800" dirty="0"/>
              <a:t>Inconvénients</a:t>
            </a:r>
          </a:p>
          <a:p>
            <a:pPr marL="400050" indent="-400050">
              <a:buFont typeface="+mj-lt"/>
              <a:buAutoNum type="romanUcPeriod"/>
            </a:pPr>
            <a:r>
              <a:rPr lang="fr-FR" sz="2000" dirty="0"/>
              <a:t>Création d’un Persona</a:t>
            </a:r>
          </a:p>
          <a:p>
            <a:pPr marL="800100" lvl="1" indent="-400050">
              <a:buFont typeface="+mj-lt"/>
              <a:buAutoNum type="alphaLcPeriod"/>
            </a:pPr>
            <a:r>
              <a:rPr lang="fr-FR" sz="1800" dirty="0"/>
              <a:t>Recherche</a:t>
            </a:r>
          </a:p>
          <a:p>
            <a:pPr marL="800100" lvl="1" indent="-400050">
              <a:buFont typeface="+mj-lt"/>
              <a:buAutoNum type="alphaLcPeriod"/>
            </a:pPr>
            <a:r>
              <a:rPr lang="fr-FR" sz="1800" dirty="0"/>
              <a:t>Analyse</a:t>
            </a:r>
          </a:p>
          <a:p>
            <a:pPr marL="800100" lvl="1" indent="-400050">
              <a:buFont typeface="+mj-lt"/>
              <a:buAutoNum type="alphaLcPeriod"/>
            </a:pPr>
            <a:r>
              <a:rPr lang="fr-FR" sz="1800" dirty="0"/>
              <a:t>Modélisation</a:t>
            </a:r>
          </a:p>
          <a:p>
            <a:pPr marL="800100" lvl="1" indent="-400050">
              <a:buFont typeface="+mj-lt"/>
              <a:buAutoNum type="alphaLcPeriod"/>
            </a:pPr>
            <a:r>
              <a:rPr lang="fr-FR" sz="1800" dirty="0"/>
              <a:t>Diffusion</a:t>
            </a:r>
            <a:endParaRPr lang="fr-FR" dirty="0"/>
          </a:p>
          <a:p>
            <a:pPr marL="400050" indent="-400050">
              <a:buFont typeface="+mj-lt"/>
              <a:buAutoNum type="romanUcPeriod"/>
            </a:pPr>
            <a:r>
              <a:rPr lang="fr-FR" sz="2000" dirty="0"/>
              <a:t>Exemple</a:t>
            </a:r>
          </a:p>
          <a:p>
            <a:pPr>
              <a:buFont typeface="Wingdings" panose="05000000000000000000" pitchFamily="2" charset="2"/>
              <a:buChar char="Ø"/>
            </a:pPr>
            <a:r>
              <a:rPr lang="fr-FR" sz="2000" dirty="0"/>
              <a:t>CONCLUSION</a:t>
            </a:r>
          </a:p>
          <a:p>
            <a:pPr marL="400050" indent="-400050">
              <a:buFont typeface="+mj-lt"/>
              <a:buAutoNum type="romanLcPeriod"/>
            </a:pPr>
            <a:endParaRPr lang="fr-FR" sz="2000" dirty="0"/>
          </a:p>
        </p:txBody>
      </p:sp>
    </p:spTree>
    <p:extLst>
      <p:ext uri="{BB962C8B-B14F-4D97-AF65-F5344CB8AC3E}">
        <p14:creationId xmlns:p14="http://schemas.microsoft.com/office/powerpoint/2010/main" val="3203811648"/>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A2F47E-F762-60DE-7553-1C75F061B83B}"/>
              </a:ext>
            </a:extLst>
          </p:cNvPr>
          <p:cNvSpPr>
            <a:spLocks noGrp="1"/>
          </p:cNvSpPr>
          <p:nvPr>
            <p:ph type="title"/>
          </p:nvPr>
        </p:nvSpPr>
        <p:spPr>
          <a:xfrm>
            <a:off x="677334" y="609600"/>
            <a:ext cx="8596668" cy="704296"/>
          </a:xfrm>
        </p:spPr>
        <p:txBody>
          <a:bodyPr>
            <a:normAutofit/>
          </a:bodyPr>
          <a:lstStyle/>
          <a:p>
            <a:pPr algn="ctr"/>
            <a:r>
              <a:rPr lang="fr-FR" dirty="0"/>
              <a:t>INTRODUCTION</a:t>
            </a:r>
          </a:p>
        </p:txBody>
      </p:sp>
      <p:sp>
        <p:nvSpPr>
          <p:cNvPr id="3" name="Espace réservé du contenu 2">
            <a:extLst>
              <a:ext uri="{FF2B5EF4-FFF2-40B4-BE49-F238E27FC236}">
                <a16:creationId xmlns:a16="http://schemas.microsoft.com/office/drawing/2014/main" id="{2FA0D25A-85A2-2E87-3FC1-1A2A73D3C4D2}"/>
              </a:ext>
            </a:extLst>
          </p:cNvPr>
          <p:cNvSpPr>
            <a:spLocks noGrp="1"/>
          </p:cNvSpPr>
          <p:nvPr>
            <p:ph idx="1"/>
          </p:nvPr>
        </p:nvSpPr>
        <p:spPr>
          <a:xfrm>
            <a:off x="677333" y="1491449"/>
            <a:ext cx="8910549" cy="3728621"/>
          </a:xfrm>
        </p:spPr>
        <p:txBody>
          <a:bodyPr>
            <a:normAutofit/>
          </a:bodyPr>
          <a:lstStyle/>
          <a:p>
            <a:pPr marL="0" indent="0" algn="just">
              <a:lnSpc>
                <a:spcPct val="150000"/>
              </a:lnSpc>
              <a:buNone/>
            </a:pPr>
            <a:r>
              <a:rPr lang="fr-FR" dirty="0"/>
              <a:t>	La satisfaction de l’utilisateur est un paramètre important dans l’atteinte des objectifs d’un site web. Dans ce sens l’ergonomie est l’un des sous-domaines du développement web qui permet au développeur web d’atteindre non seulement cet objectifs mais aussi d’assurer l’utilisabilité de son site pour le visiteur.</a:t>
            </a:r>
          </a:p>
          <a:p>
            <a:pPr marL="0" indent="0" algn="just">
              <a:lnSpc>
                <a:spcPct val="150000"/>
              </a:lnSpc>
              <a:buNone/>
            </a:pPr>
            <a:r>
              <a:rPr lang="fr-FR" dirty="0"/>
              <a:t>	Par ailleurs, la conception d’un site ergonomique n’est pas une tâche à prendre à la légère et peu devenir une galère si on ne s’y prend pas bien.</a:t>
            </a:r>
          </a:p>
          <a:p>
            <a:pPr marL="0" indent="0" algn="just">
              <a:lnSpc>
                <a:spcPct val="150000"/>
              </a:lnSpc>
              <a:buNone/>
            </a:pPr>
            <a:r>
              <a:rPr lang="fr-FR" dirty="0"/>
              <a:t>	En quoi l’utilisation des </a:t>
            </a:r>
            <a:r>
              <a:rPr lang="fr-FR" dirty="0" err="1"/>
              <a:t>personas</a:t>
            </a:r>
            <a:r>
              <a:rPr lang="fr-FR" dirty="0"/>
              <a:t> permet d’assurer et d’optimiser l’ergonomie des interfaces web ?</a:t>
            </a:r>
          </a:p>
        </p:txBody>
      </p:sp>
    </p:spTree>
    <p:extLst>
      <p:ext uri="{BB962C8B-B14F-4D97-AF65-F5344CB8AC3E}">
        <p14:creationId xmlns:p14="http://schemas.microsoft.com/office/powerpoint/2010/main" val="1226506236"/>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E83DD00-43DC-1B49-E98A-2951B24E3BC2}"/>
              </a:ext>
            </a:extLst>
          </p:cNvPr>
          <p:cNvSpPr>
            <a:spLocks noGrp="1"/>
          </p:cNvSpPr>
          <p:nvPr>
            <p:ph idx="1"/>
          </p:nvPr>
        </p:nvSpPr>
        <p:spPr>
          <a:xfrm>
            <a:off x="446514" y="1372972"/>
            <a:ext cx="9141369" cy="4628333"/>
          </a:xfrm>
        </p:spPr>
        <p:txBody>
          <a:bodyPr>
            <a:normAutofit fontScale="92500" lnSpcReduction="20000"/>
          </a:bodyPr>
          <a:lstStyle/>
          <a:p>
            <a:pPr marL="0" indent="0" algn="just" fontAlgn="base">
              <a:lnSpc>
                <a:spcPct val="150000"/>
              </a:lnSpc>
              <a:buNone/>
            </a:pPr>
            <a:r>
              <a:rPr lang="fr-FR" sz="2000" b="0" i="0" dirty="0">
                <a:solidFill>
                  <a:srgbClr val="343434"/>
                </a:solidFill>
                <a:effectLst/>
              </a:rPr>
              <a:t>	L’ergonomie, appelée aussi utilisabilité est la capacité d’un produit informatique à être facilement utilisé par une personne pour réaliser la tâche pour laquelle il a été conçu.</a:t>
            </a:r>
          </a:p>
          <a:p>
            <a:pPr marL="0" indent="0" algn="just" fontAlgn="base">
              <a:buNone/>
            </a:pPr>
            <a:endParaRPr lang="fr-FR" sz="2000" b="0" i="0" dirty="0">
              <a:solidFill>
                <a:srgbClr val="343434"/>
              </a:solidFill>
              <a:effectLst/>
            </a:endParaRPr>
          </a:p>
          <a:p>
            <a:pPr marL="0" indent="0" algn="l" fontAlgn="base">
              <a:lnSpc>
                <a:spcPct val="150000"/>
              </a:lnSpc>
              <a:buNone/>
            </a:pPr>
            <a:r>
              <a:rPr lang="fr-FR" sz="2000" b="0" i="0" dirty="0">
                <a:solidFill>
                  <a:srgbClr val="343434"/>
                </a:solidFill>
                <a:effectLst/>
              </a:rPr>
              <a:t>	Dans le cas d’une interface web par exemple, cette dernière sera utilisable si :</a:t>
            </a:r>
          </a:p>
          <a:p>
            <a:pPr algn="l" fontAlgn="base">
              <a:lnSpc>
                <a:spcPct val="150000"/>
              </a:lnSpc>
              <a:buFont typeface="Arial" panose="020B0604020202020204" pitchFamily="34" charset="0"/>
              <a:buChar char="•"/>
            </a:pPr>
            <a:r>
              <a:rPr lang="fr-FR" sz="2000" b="0" i="0" dirty="0">
                <a:solidFill>
                  <a:srgbClr val="363636"/>
                </a:solidFill>
                <a:effectLst/>
              </a:rPr>
              <a:t>L’utilisateur réussit à l’utiliser comme désiré (</a:t>
            </a:r>
            <a:r>
              <a:rPr lang="fr-FR" sz="2000" b="1" i="0" dirty="0">
                <a:solidFill>
                  <a:srgbClr val="363636"/>
                </a:solidFill>
                <a:effectLst/>
              </a:rPr>
              <a:t>efficacité</a:t>
            </a:r>
            <a:r>
              <a:rPr lang="fr-FR" sz="2000" b="0" i="0" dirty="0">
                <a:solidFill>
                  <a:srgbClr val="363636"/>
                </a:solidFill>
                <a:effectLst/>
              </a:rPr>
              <a:t>)</a:t>
            </a:r>
          </a:p>
          <a:p>
            <a:pPr algn="l" fontAlgn="base">
              <a:lnSpc>
                <a:spcPct val="150000"/>
              </a:lnSpc>
              <a:buFont typeface="Arial" panose="020B0604020202020204" pitchFamily="34" charset="0"/>
              <a:buChar char="•"/>
            </a:pPr>
            <a:r>
              <a:rPr lang="fr-FR" sz="2000" b="0" i="0" dirty="0">
                <a:solidFill>
                  <a:srgbClr val="363636"/>
                </a:solidFill>
                <a:effectLst/>
              </a:rPr>
              <a:t>La personne effectue sa tâche facilement en mettant en œuvre un minimum de ressources (</a:t>
            </a:r>
            <a:r>
              <a:rPr lang="fr-FR" sz="2000" b="1" i="0" dirty="0">
                <a:solidFill>
                  <a:srgbClr val="363636"/>
                </a:solidFill>
                <a:effectLst/>
              </a:rPr>
              <a:t>efficience</a:t>
            </a:r>
            <a:r>
              <a:rPr lang="fr-FR" sz="2000" b="0" i="0" dirty="0">
                <a:solidFill>
                  <a:srgbClr val="363636"/>
                </a:solidFill>
                <a:effectLst/>
              </a:rPr>
              <a:t>)</a:t>
            </a:r>
          </a:p>
          <a:p>
            <a:pPr algn="l" fontAlgn="base">
              <a:lnSpc>
                <a:spcPct val="150000"/>
              </a:lnSpc>
              <a:buFont typeface="Arial" panose="020B0604020202020204" pitchFamily="34" charset="0"/>
              <a:buChar char="•"/>
            </a:pPr>
            <a:r>
              <a:rPr lang="fr-FR" sz="2000" b="0" i="0" dirty="0">
                <a:solidFill>
                  <a:srgbClr val="363636"/>
                </a:solidFill>
                <a:effectLst/>
              </a:rPr>
              <a:t>Le système est agréable à utiliser (</a:t>
            </a:r>
            <a:r>
              <a:rPr lang="fr-FR" sz="2000" b="1" i="0" dirty="0">
                <a:solidFill>
                  <a:srgbClr val="363636"/>
                </a:solidFill>
                <a:effectLst/>
              </a:rPr>
              <a:t>satisfaction</a:t>
            </a:r>
            <a:r>
              <a:rPr lang="fr-FR" sz="2000" b="0" i="0" dirty="0">
                <a:solidFill>
                  <a:srgbClr val="363636"/>
                </a:solidFill>
                <a:effectLst/>
              </a:rPr>
              <a:t>).</a:t>
            </a:r>
          </a:p>
          <a:p>
            <a:pPr marL="0" indent="0" algn="just">
              <a:buNone/>
            </a:pPr>
            <a:endParaRPr lang="fr-FR" sz="2000" dirty="0"/>
          </a:p>
        </p:txBody>
      </p:sp>
      <p:sp>
        <p:nvSpPr>
          <p:cNvPr id="10" name="Titre 1">
            <a:extLst>
              <a:ext uri="{FF2B5EF4-FFF2-40B4-BE49-F238E27FC236}">
                <a16:creationId xmlns:a16="http://schemas.microsoft.com/office/drawing/2014/main" id="{1415B8D1-C922-03C2-4137-EF9F2FF17554}"/>
              </a:ext>
            </a:extLst>
          </p:cNvPr>
          <p:cNvSpPr>
            <a:spLocks noGrp="1"/>
          </p:cNvSpPr>
          <p:nvPr>
            <p:ph type="title"/>
          </p:nvPr>
        </p:nvSpPr>
        <p:spPr>
          <a:xfrm>
            <a:off x="866928" y="390508"/>
            <a:ext cx="8596668" cy="704296"/>
          </a:xfrm>
        </p:spPr>
        <p:txBody>
          <a:bodyPr>
            <a:normAutofit fontScale="90000"/>
          </a:bodyPr>
          <a:lstStyle/>
          <a:p>
            <a:pPr marL="857250" indent="-857250">
              <a:buFont typeface="+mj-lt"/>
              <a:buAutoNum type="romanUcPeriod"/>
            </a:pPr>
            <a:r>
              <a:rPr lang="fr-FR" dirty="0"/>
              <a:t>Ergonomie des Interfaces Web</a:t>
            </a:r>
            <a:br>
              <a:rPr lang="fr-FR" dirty="0"/>
            </a:br>
            <a:br>
              <a:rPr lang="fr-FR" dirty="0"/>
            </a:br>
            <a:endParaRPr lang="fr-FR" dirty="0"/>
          </a:p>
        </p:txBody>
      </p:sp>
    </p:spTree>
    <p:extLst>
      <p:ext uri="{BB962C8B-B14F-4D97-AF65-F5344CB8AC3E}">
        <p14:creationId xmlns:p14="http://schemas.microsoft.com/office/powerpoint/2010/main" val="1761604787"/>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E2477EF-E3EC-1350-F7B1-8F95245F9AF3}"/>
              </a:ext>
            </a:extLst>
          </p:cNvPr>
          <p:cNvSpPr>
            <a:spLocks noGrp="1"/>
          </p:cNvSpPr>
          <p:nvPr>
            <p:ph idx="1"/>
          </p:nvPr>
        </p:nvSpPr>
        <p:spPr>
          <a:xfrm>
            <a:off x="566260" y="2118332"/>
            <a:ext cx="9478720" cy="2621336"/>
          </a:xfrm>
        </p:spPr>
        <p:txBody>
          <a:bodyPr>
            <a:normAutofit fontScale="92500" lnSpcReduction="20000"/>
          </a:bodyPr>
          <a:lstStyle/>
          <a:p>
            <a:pPr marL="0" indent="0" algn="just">
              <a:lnSpc>
                <a:spcPct val="160000"/>
              </a:lnSpc>
              <a:buNone/>
            </a:pPr>
            <a:r>
              <a:rPr lang="fr-FR" sz="2000" dirty="0"/>
              <a:t>	</a:t>
            </a:r>
            <a:r>
              <a:rPr lang="fr-FR" sz="2000" b="0" i="0" dirty="0">
                <a:solidFill>
                  <a:srgbClr val="636363"/>
                </a:solidFill>
                <a:effectLst/>
              </a:rPr>
              <a:t>La méthode des </a:t>
            </a:r>
            <a:r>
              <a:rPr lang="fr-FR" sz="2000" b="0" i="0" dirty="0" err="1">
                <a:solidFill>
                  <a:srgbClr val="636363"/>
                </a:solidFill>
                <a:effectLst/>
              </a:rPr>
              <a:t>personas</a:t>
            </a:r>
            <a:r>
              <a:rPr lang="fr-FR" sz="2000" b="0" i="0" dirty="0">
                <a:solidFill>
                  <a:srgbClr val="636363"/>
                </a:solidFill>
                <a:effectLst/>
              </a:rPr>
              <a:t> a été créée par </a:t>
            </a:r>
            <a:r>
              <a:rPr lang="fr-FR" sz="2000" b="0" i="0" dirty="0">
                <a:solidFill>
                  <a:srgbClr val="636363"/>
                </a:solidFill>
                <a:effectLst/>
                <a:hlinkClick r:id="rId2"/>
              </a:rPr>
              <a:t>Alan Cooper</a:t>
            </a:r>
            <a:r>
              <a:rPr lang="fr-FR" sz="2000" b="0" i="0" dirty="0">
                <a:solidFill>
                  <a:srgbClr val="636363"/>
                </a:solidFill>
                <a:effectLst/>
              </a:rPr>
              <a:t>. Elle est présentée dans l’ouvrage </a:t>
            </a:r>
            <a:r>
              <a:rPr lang="fr-FR" sz="2000" b="1" i="1" dirty="0">
                <a:solidFill>
                  <a:srgbClr val="636363"/>
                </a:solidFill>
                <a:effectLst/>
              </a:rPr>
              <a:t>« The </a:t>
            </a:r>
            <a:r>
              <a:rPr lang="fr-FR" sz="2000" b="1" i="1" dirty="0" err="1">
                <a:solidFill>
                  <a:srgbClr val="636363"/>
                </a:solidFill>
                <a:effectLst/>
              </a:rPr>
              <a:t>inmates</a:t>
            </a:r>
            <a:r>
              <a:rPr lang="fr-FR" sz="2000" b="1" i="1" dirty="0">
                <a:solidFill>
                  <a:srgbClr val="636363"/>
                </a:solidFill>
                <a:effectLst/>
              </a:rPr>
              <a:t> are running the </a:t>
            </a:r>
            <a:r>
              <a:rPr lang="fr-FR" sz="2000" b="1" i="1" dirty="0" err="1">
                <a:solidFill>
                  <a:srgbClr val="636363"/>
                </a:solidFill>
                <a:effectLst/>
              </a:rPr>
              <a:t>asylum</a:t>
            </a:r>
            <a:r>
              <a:rPr lang="fr-FR" sz="2000" b="1" i="1" dirty="0">
                <a:solidFill>
                  <a:srgbClr val="636363"/>
                </a:solidFill>
                <a:effectLst/>
              </a:rPr>
              <a:t>:[</a:t>
            </a:r>
            <a:r>
              <a:rPr lang="fr-FR" sz="2000" b="1" i="1" dirty="0" err="1">
                <a:solidFill>
                  <a:srgbClr val="636363"/>
                </a:solidFill>
                <a:effectLst/>
              </a:rPr>
              <a:t>Why</a:t>
            </a:r>
            <a:r>
              <a:rPr lang="fr-FR" sz="2000" b="1" i="1" dirty="0">
                <a:solidFill>
                  <a:srgbClr val="636363"/>
                </a:solidFill>
                <a:effectLst/>
              </a:rPr>
              <a:t> high-tech </a:t>
            </a:r>
            <a:r>
              <a:rPr lang="fr-FR" sz="2000" b="1" i="1" dirty="0" err="1">
                <a:solidFill>
                  <a:srgbClr val="636363"/>
                </a:solidFill>
                <a:effectLst/>
              </a:rPr>
              <a:t>products</a:t>
            </a:r>
            <a:r>
              <a:rPr lang="fr-FR" sz="2000" b="1" i="1" dirty="0">
                <a:solidFill>
                  <a:srgbClr val="636363"/>
                </a:solidFill>
                <a:effectLst/>
              </a:rPr>
              <a:t> drive us </a:t>
            </a:r>
            <a:r>
              <a:rPr lang="fr-FR" sz="2000" b="1" i="1" dirty="0" err="1">
                <a:solidFill>
                  <a:srgbClr val="636363"/>
                </a:solidFill>
                <a:effectLst/>
              </a:rPr>
              <a:t>crazy</a:t>
            </a:r>
            <a:r>
              <a:rPr lang="fr-FR" sz="2000" b="1" i="1" dirty="0">
                <a:solidFill>
                  <a:srgbClr val="636363"/>
                </a:solidFill>
                <a:effectLst/>
              </a:rPr>
              <a:t> and how to restore the </a:t>
            </a:r>
            <a:r>
              <a:rPr lang="fr-FR" sz="2000" b="1" i="1" dirty="0" err="1">
                <a:solidFill>
                  <a:srgbClr val="636363"/>
                </a:solidFill>
                <a:effectLst/>
              </a:rPr>
              <a:t>sanity</a:t>
            </a:r>
            <a:r>
              <a:rPr lang="fr-FR" sz="2000" b="1" i="1" dirty="0">
                <a:solidFill>
                  <a:srgbClr val="636363"/>
                </a:solidFill>
                <a:effectLst/>
              </a:rPr>
              <a:t>] »</a:t>
            </a:r>
            <a:r>
              <a:rPr lang="fr-FR" sz="2000" b="0" i="1" dirty="0">
                <a:solidFill>
                  <a:srgbClr val="636363"/>
                </a:solidFill>
                <a:effectLst/>
              </a:rPr>
              <a:t> </a:t>
            </a:r>
            <a:r>
              <a:rPr lang="fr-FR" sz="2000" b="0" i="0" dirty="0">
                <a:solidFill>
                  <a:srgbClr val="636363"/>
                </a:solidFill>
                <a:effectLst/>
              </a:rPr>
              <a:t>publié en 1999.</a:t>
            </a:r>
            <a:r>
              <a:rPr lang="fr-FR" sz="2000" dirty="0"/>
              <a:t>	</a:t>
            </a:r>
            <a:r>
              <a:rPr lang="fr-FR" sz="2000" b="0" i="0" dirty="0">
                <a:solidFill>
                  <a:srgbClr val="202122"/>
                </a:solidFill>
                <a:effectLst/>
              </a:rPr>
              <a:t>Il y recommande d'appliquer cette méthode au commerce en ligne et aux Technologies de l’Information et de la Communication (TIC) afin de concevoir des produits dont les cibles sont bien détaillées et identifiables par tous les acteurs du projet.</a:t>
            </a:r>
            <a:endParaRPr lang="fr-FR" sz="2000" dirty="0"/>
          </a:p>
        </p:txBody>
      </p:sp>
      <p:sp>
        <p:nvSpPr>
          <p:cNvPr id="4" name="Titre 1">
            <a:extLst>
              <a:ext uri="{FF2B5EF4-FFF2-40B4-BE49-F238E27FC236}">
                <a16:creationId xmlns:a16="http://schemas.microsoft.com/office/drawing/2014/main" id="{D6540762-9502-9EC9-9C41-8F974B4D70E0}"/>
              </a:ext>
            </a:extLst>
          </p:cNvPr>
          <p:cNvSpPr>
            <a:spLocks noGrp="1"/>
          </p:cNvSpPr>
          <p:nvPr>
            <p:ph type="title"/>
          </p:nvPr>
        </p:nvSpPr>
        <p:spPr>
          <a:xfrm>
            <a:off x="874122" y="381631"/>
            <a:ext cx="8596668" cy="704296"/>
          </a:xfrm>
        </p:spPr>
        <p:txBody>
          <a:bodyPr>
            <a:normAutofit/>
          </a:bodyPr>
          <a:lstStyle/>
          <a:p>
            <a:pPr marL="857250" indent="-857250">
              <a:buFont typeface="+mj-lt"/>
              <a:buAutoNum type="romanUcPeriod" startAt="2"/>
            </a:pPr>
            <a:r>
              <a:rPr lang="fr-FR" dirty="0"/>
              <a:t>Méthode des </a:t>
            </a:r>
            <a:r>
              <a:rPr lang="fr-FR" dirty="0" err="1"/>
              <a:t>Personas</a:t>
            </a:r>
            <a:r>
              <a:rPr lang="fr-FR" dirty="0"/>
              <a:t> en Ergonomie</a:t>
            </a:r>
          </a:p>
        </p:txBody>
      </p:sp>
      <p:sp>
        <p:nvSpPr>
          <p:cNvPr id="5" name="Titre 1">
            <a:extLst>
              <a:ext uri="{FF2B5EF4-FFF2-40B4-BE49-F238E27FC236}">
                <a16:creationId xmlns:a16="http://schemas.microsoft.com/office/drawing/2014/main" id="{6308AAF6-EA66-2533-4B00-8723AC3C810A}"/>
              </a:ext>
            </a:extLst>
          </p:cNvPr>
          <p:cNvSpPr txBox="1">
            <a:spLocks/>
          </p:cNvSpPr>
          <p:nvPr/>
        </p:nvSpPr>
        <p:spPr>
          <a:xfrm>
            <a:off x="1717767" y="1085927"/>
            <a:ext cx="8596668" cy="420211"/>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742950" indent="-742950">
              <a:buFont typeface="+mj-lt"/>
              <a:buAutoNum type="alphaLcPeriod"/>
            </a:pPr>
            <a:r>
              <a:rPr lang="fr-FR" dirty="0"/>
              <a:t>Origines</a:t>
            </a:r>
          </a:p>
        </p:txBody>
      </p:sp>
    </p:spTree>
    <p:extLst>
      <p:ext uri="{BB962C8B-B14F-4D97-AF65-F5344CB8AC3E}">
        <p14:creationId xmlns:p14="http://schemas.microsoft.com/office/powerpoint/2010/main" val="4243832725"/>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04317FA-381E-82DA-14D9-531DD41160C2}"/>
              </a:ext>
            </a:extLst>
          </p:cNvPr>
          <p:cNvSpPr>
            <a:spLocks noGrp="1"/>
          </p:cNvSpPr>
          <p:nvPr>
            <p:ph idx="1"/>
          </p:nvPr>
        </p:nvSpPr>
        <p:spPr>
          <a:xfrm>
            <a:off x="277838" y="1710324"/>
            <a:ext cx="9611885" cy="4585069"/>
          </a:xfrm>
        </p:spPr>
        <p:txBody>
          <a:bodyPr>
            <a:normAutofit/>
          </a:bodyPr>
          <a:lstStyle/>
          <a:p>
            <a:pPr marL="0" indent="0" algn="just" fontAlgn="base">
              <a:lnSpc>
                <a:spcPct val="150000"/>
              </a:lnSpc>
              <a:buNone/>
            </a:pPr>
            <a:r>
              <a:rPr lang="fr-FR" b="0" i="0" dirty="0">
                <a:solidFill>
                  <a:srgbClr val="343434"/>
                </a:solidFill>
                <a:effectLst/>
              </a:rPr>
              <a:t>Un persona est une représentation fictive mais réaliste des utilisateurs d’un produit numérique ou d’un service. L’objectif principal est de permettre aux concepteurs et aux développeurs de se référer aux utilisateurs. Les persona les représentent concrètement. Le principe peut paraître “contre-logique” pour trois raisons :</a:t>
            </a:r>
          </a:p>
          <a:p>
            <a:pPr algn="just" fontAlgn="base">
              <a:lnSpc>
                <a:spcPct val="200000"/>
              </a:lnSpc>
              <a:buFont typeface="Arial" panose="020B0604020202020204" pitchFamily="34" charset="0"/>
              <a:buChar char="•"/>
            </a:pPr>
            <a:r>
              <a:rPr lang="fr-FR" b="0" i="0" dirty="0">
                <a:solidFill>
                  <a:srgbClr val="363636"/>
                </a:solidFill>
                <a:effectLst/>
              </a:rPr>
              <a:t>Il n’existe pas d’utilisateur moyen d’une application, d’un logiciel, d’un site web, etc.</a:t>
            </a:r>
          </a:p>
          <a:p>
            <a:pPr algn="just" fontAlgn="base">
              <a:lnSpc>
                <a:spcPct val="200000"/>
              </a:lnSpc>
              <a:buFont typeface="Arial" panose="020B0604020202020204" pitchFamily="34" charset="0"/>
              <a:buChar char="•"/>
            </a:pPr>
            <a:r>
              <a:rPr lang="fr-FR" b="0" i="0" dirty="0">
                <a:solidFill>
                  <a:srgbClr val="363636"/>
                </a:solidFill>
                <a:effectLst/>
              </a:rPr>
              <a:t>Le designer ne peut jamais réellement se mettre à la place des utilisateurs</a:t>
            </a:r>
          </a:p>
          <a:p>
            <a:pPr algn="just" fontAlgn="base">
              <a:lnSpc>
                <a:spcPct val="200000"/>
              </a:lnSpc>
              <a:buFont typeface="Arial" panose="020B0604020202020204" pitchFamily="34" charset="0"/>
              <a:buChar char="•"/>
            </a:pPr>
            <a:r>
              <a:rPr lang="fr-FR" b="0" i="0" dirty="0">
                <a:solidFill>
                  <a:srgbClr val="363636"/>
                </a:solidFill>
                <a:effectLst/>
              </a:rPr>
              <a:t>Les utilisateurs ne sont pas toujours conscients de ce dont ils ont vraiment besoin</a:t>
            </a:r>
          </a:p>
          <a:p>
            <a:pPr marL="0" indent="0" algn="l">
              <a:lnSpc>
                <a:spcPct val="200000"/>
              </a:lnSpc>
              <a:buNone/>
            </a:pPr>
            <a:endParaRPr lang="fr-FR" b="0" i="0" dirty="0">
              <a:solidFill>
                <a:srgbClr val="636363"/>
              </a:solidFill>
              <a:effectLst/>
            </a:endParaRPr>
          </a:p>
          <a:p>
            <a:pPr marL="0" indent="0" algn="just">
              <a:buNone/>
            </a:pPr>
            <a:endParaRPr lang="fr-FR" b="0" i="0" dirty="0">
              <a:solidFill>
                <a:srgbClr val="202122"/>
              </a:solidFill>
              <a:effectLst/>
            </a:endParaRPr>
          </a:p>
        </p:txBody>
      </p:sp>
      <p:sp>
        <p:nvSpPr>
          <p:cNvPr id="4" name="Titre 1">
            <a:extLst>
              <a:ext uri="{FF2B5EF4-FFF2-40B4-BE49-F238E27FC236}">
                <a16:creationId xmlns:a16="http://schemas.microsoft.com/office/drawing/2014/main" id="{47861600-E993-77BC-ED28-D361455185B6}"/>
              </a:ext>
            </a:extLst>
          </p:cNvPr>
          <p:cNvSpPr>
            <a:spLocks noGrp="1"/>
          </p:cNvSpPr>
          <p:nvPr>
            <p:ph type="title"/>
          </p:nvPr>
        </p:nvSpPr>
        <p:spPr>
          <a:xfrm>
            <a:off x="874122" y="381631"/>
            <a:ext cx="8596668" cy="704296"/>
          </a:xfrm>
        </p:spPr>
        <p:txBody>
          <a:bodyPr>
            <a:normAutofit/>
          </a:bodyPr>
          <a:lstStyle/>
          <a:p>
            <a:pPr marL="857250" indent="-857250">
              <a:buFont typeface="+mj-lt"/>
              <a:buAutoNum type="romanUcPeriod" startAt="2"/>
            </a:pPr>
            <a:r>
              <a:rPr lang="fr-FR" dirty="0"/>
              <a:t>Méthode des </a:t>
            </a:r>
            <a:r>
              <a:rPr lang="fr-FR" dirty="0" err="1"/>
              <a:t>Personas</a:t>
            </a:r>
            <a:r>
              <a:rPr lang="fr-FR" dirty="0"/>
              <a:t> en Ergonomie</a:t>
            </a:r>
          </a:p>
        </p:txBody>
      </p:sp>
      <p:sp>
        <p:nvSpPr>
          <p:cNvPr id="5" name="Titre 1">
            <a:extLst>
              <a:ext uri="{FF2B5EF4-FFF2-40B4-BE49-F238E27FC236}">
                <a16:creationId xmlns:a16="http://schemas.microsoft.com/office/drawing/2014/main" id="{46FFD222-7150-3303-17A6-0832A2A5551A}"/>
              </a:ext>
            </a:extLst>
          </p:cNvPr>
          <p:cNvSpPr txBox="1">
            <a:spLocks/>
          </p:cNvSpPr>
          <p:nvPr/>
        </p:nvSpPr>
        <p:spPr>
          <a:xfrm>
            <a:off x="1717767" y="1085927"/>
            <a:ext cx="8596668" cy="420211"/>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742950" indent="-742950">
              <a:buFont typeface="+mj-lt"/>
              <a:buAutoNum type="alphaLcPeriod" startAt="2"/>
            </a:pPr>
            <a:r>
              <a:rPr lang="fr-FR" dirty="0"/>
              <a:t>Un Persona, C’est Quoi ?</a:t>
            </a:r>
          </a:p>
          <a:p>
            <a:pPr marL="742950" indent="-742950">
              <a:buFont typeface="+mj-lt"/>
              <a:buAutoNum type="alphaLcPeriod" startAt="2"/>
            </a:pPr>
            <a:endParaRPr lang="fr-FR" dirty="0"/>
          </a:p>
        </p:txBody>
      </p:sp>
    </p:spTree>
    <p:extLst>
      <p:ext uri="{BB962C8B-B14F-4D97-AF65-F5344CB8AC3E}">
        <p14:creationId xmlns:p14="http://schemas.microsoft.com/office/powerpoint/2010/main" val="1414550448"/>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4320A9D-DC20-47D8-62BD-A0E656F87B0D}"/>
              </a:ext>
            </a:extLst>
          </p:cNvPr>
          <p:cNvSpPr>
            <a:spLocks noGrp="1"/>
          </p:cNvSpPr>
          <p:nvPr>
            <p:ph idx="1"/>
          </p:nvPr>
        </p:nvSpPr>
        <p:spPr>
          <a:xfrm>
            <a:off x="384371" y="1503072"/>
            <a:ext cx="9159124" cy="4970231"/>
          </a:xfrm>
        </p:spPr>
        <p:txBody>
          <a:bodyPr>
            <a:normAutofit/>
          </a:bodyPr>
          <a:lstStyle/>
          <a:p>
            <a:pPr algn="just"/>
            <a:r>
              <a:rPr lang="fr-FR" sz="2000" b="0" i="0" dirty="0">
                <a:solidFill>
                  <a:srgbClr val="636363"/>
                </a:solidFill>
                <a:effectLst/>
              </a:rPr>
              <a:t>Les </a:t>
            </a:r>
            <a:r>
              <a:rPr lang="fr-FR" sz="2000" b="0" i="0" dirty="0" err="1">
                <a:solidFill>
                  <a:srgbClr val="636363"/>
                </a:solidFill>
                <a:effectLst/>
              </a:rPr>
              <a:t>personas</a:t>
            </a:r>
            <a:r>
              <a:rPr lang="fr-FR" sz="2000" b="0" i="0" dirty="0">
                <a:solidFill>
                  <a:srgbClr val="636363"/>
                </a:solidFill>
                <a:effectLst/>
              </a:rPr>
              <a:t> sont des </a:t>
            </a:r>
            <a:r>
              <a:rPr lang="fr-FR" sz="2000" b="1" i="0" dirty="0">
                <a:solidFill>
                  <a:srgbClr val="636363"/>
                </a:solidFill>
                <a:effectLst/>
              </a:rPr>
              <a:t>outils d’aide à la conception</a:t>
            </a:r>
            <a:r>
              <a:rPr lang="fr-FR" sz="2000" b="0" i="0" dirty="0">
                <a:solidFill>
                  <a:srgbClr val="636363"/>
                </a:solidFill>
                <a:effectLst/>
              </a:rPr>
              <a:t> et de communication. Ils permettent à l’équipe de conception de rester centrée sur les utilisateurs finaux (</a:t>
            </a:r>
            <a:r>
              <a:rPr lang="fr-FR" sz="2000" b="0" i="1" dirty="0">
                <a:solidFill>
                  <a:srgbClr val="636363"/>
                </a:solidFill>
                <a:effectLst/>
              </a:rPr>
              <a:t>end-</a:t>
            </a:r>
            <a:r>
              <a:rPr lang="fr-FR" sz="2000" b="0" i="1" dirty="0" err="1">
                <a:solidFill>
                  <a:srgbClr val="636363"/>
                </a:solidFill>
                <a:effectLst/>
              </a:rPr>
              <a:t>users</a:t>
            </a:r>
            <a:r>
              <a:rPr lang="fr-FR" sz="2000" b="0" i="0" dirty="0">
                <a:solidFill>
                  <a:srgbClr val="636363"/>
                </a:solidFill>
                <a:effectLst/>
              </a:rPr>
              <a:t>), leurs aptitudes et leurs buts. Ils permettent une conception réaliste basée sur ce que l’utilisateur final peut et veut faire.</a:t>
            </a:r>
          </a:p>
          <a:p>
            <a:pPr algn="just"/>
            <a:r>
              <a:rPr lang="fr-FR" sz="2000" b="0" i="0" dirty="0">
                <a:solidFill>
                  <a:srgbClr val="636363"/>
                </a:solidFill>
                <a:effectLst/>
              </a:rPr>
              <a:t>Lorsque les comportements et les buts de plusieurs </a:t>
            </a:r>
            <a:r>
              <a:rPr lang="fr-FR" sz="2000" b="0" i="0" dirty="0" err="1">
                <a:solidFill>
                  <a:srgbClr val="636363"/>
                </a:solidFill>
                <a:effectLst/>
              </a:rPr>
              <a:t>personas</a:t>
            </a:r>
            <a:r>
              <a:rPr lang="fr-FR" sz="2000" b="0" i="0" dirty="0">
                <a:solidFill>
                  <a:srgbClr val="636363"/>
                </a:solidFill>
                <a:effectLst/>
              </a:rPr>
              <a:t> sont trop différents pour être servis par un même produit, il convient de fabriquer plusieurs produits distincts.</a:t>
            </a:r>
          </a:p>
          <a:p>
            <a:pPr algn="just"/>
            <a:r>
              <a:rPr lang="fr-FR" sz="2000" b="0" i="0" dirty="0">
                <a:solidFill>
                  <a:srgbClr val="636363"/>
                </a:solidFill>
                <a:effectLst/>
              </a:rPr>
              <a:t>Pour illustrer cette idée, nous pouvons nous appuyer sur l’exemple fourni par Cooper dans « </a:t>
            </a:r>
            <a:r>
              <a:rPr lang="fr-FR" sz="2000" b="0" i="1" dirty="0">
                <a:solidFill>
                  <a:srgbClr val="636363"/>
                </a:solidFill>
                <a:effectLst/>
              </a:rPr>
              <a:t>About Face 3: The Essentials of Interaction Design</a:t>
            </a:r>
            <a:r>
              <a:rPr lang="fr-FR" sz="2000" b="0" i="0" dirty="0">
                <a:solidFill>
                  <a:srgbClr val="636363"/>
                </a:solidFill>
                <a:effectLst/>
              </a:rPr>
              <a:t> ». Les trois </a:t>
            </a:r>
            <a:r>
              <a:rPr lang="fr-FR" sz="2000" b="0" i="0" dirty="0" err="1">
                <a:solidFill>
                  <a:srgbClr val="636363"/>
                </a:solidFill>
                <a:effectLst/>
              </a:rPr>
              <a:t>personas</a:t>
            </a:r>
            <a:r>
              <a:rPr lang="fr-FR" sz="2000" b="0" i="0" dirty="0">
                <a:solidFill>
                  <a:srgbClr val="636363"/>
                </a:solidFill>
                <a:effectLst/>
              </a:rPr>
              <a:t>, présentés ci-dessous de manière synthétique, sont globalement différents de par leurs buts et comportements. Il semble donc difficile de concevoir un même véhicule qui convienne aux trois </a:t>
            </a:r>
            <a:r>
              <a:rPr lang="fr-FR" sz="2000" b="0" i="0" dirty="0" err="1">
                <a:solidFill>
                  <a:srgbClr val="636363"/>
                </a:solidFill>
                <a:effectLst/>
              </a:rPr>
              <a:t>personas</a:t>
            </a:r>
            <a:r>
              <a:rPr lang="fr-FR" sz="2000" b="0" i="0" dirty="0">
                <a:solidFill>
                  <a:srgbClr val="636363"/>
                </a:solidFill>
                <a:effectLst/>
              </a:rPr>
              <a:t>. Il serait donc plus pertinent de concevoir trois voitures distinctes qui satisferont chacune l’un d’entre eux :</a:t>
            </a:r>
          </a:p>
          <a:p>
            <a:pPr marL="0" indent="0" algn="just">
              <a:buNone/>
            </a:pPr>
            <a:endParaRPr lang="fr-FR" sz="2000" dirty="0"/>
          </a:p>
        </p:txBody>
      </p:sp>
      <p:sp>
        <p:nvSpPr>
          <p:cNvPr id="4" name="Titre 1">
            <a:extLst>
              <a:ext uri="{FF2B5EF4-FFF2-40B4-BE49-F238E27FC236}">
                <a16:creationId xmlns:a16="http://schemas.microsoft.com/office/drawing/2014/main" id="{C63BE83F-4BC9-9A8B-DF3B-DF2BCF2C5E6C}"/>
              </a:ext>
            </a:extLst>
          </p:cNvPr>
          <p:cNvSpPr>
            <a:spLocks noGrp="1"/>
          </p:cNvSpPr>
          <p:nvPr>
            <p:ph type="title"/>
          </p:nvPr>
        </p:nvSpPr>
        <p:spPr>
          <a:xfrm>
            <a:off x="874122" y="381631"/>
            <a:ext cx="8596668" cy="704296"/>
          </a:xfrm>
        </p:spPr>
        <p:txBody>
          <a:bodyPr>
            <a:normAutofit/>
          </a:bodyPr>
          <a:lstStyle/>
          <a:p>
            <a:pPr marL="857250" indent="-857250">
              <a:buFont typeface="+mj-lt"/>
              <a:buAutoNum type="romanUcPeriod" startAt="2"/>
            </a:pPr>
            <a:r>
              <a:rPr lang="fr-FR" dirty="0"/>
              <a:t>Méthode des </a:t>
            </a:r>
            <a:r>
              <a:rPr lang="fr-FR" dirty="0" err="1"/>
              <a:t>Personas</a:t>
            </a:r>
            <a:r>
              <a:rPr lang="fr-FR" dirty="0"/>
              <a:t> en Ergonomie</a:t>
            </a:r>
          </a:p>
        </p:txBody>
      </p:sp>
      <p:sp>
        <p:nvSpPr>
          <p:cNvPr id="5" name="Titre 1">
            <a:extLst>
              <a:ext uri="{FF2B5EF4-FFF2-40B4-BE49-F238E27FC236}">
                <a16:creationId xmlns:a16="http://schemas.microsoft.com/office/drawing/2014/main" id="{7F25AD34-1743-C658-9727-A7C8CE63028C}"/>
              </a:ext>
            </a:extLst>
          </p:cNvPr>
          <p:cNvSpPr txBox="1">
            <a:spLocks/>
          </p:cNvSpPr>
          <p:nvPr/>
        </p:nvSpPr>
        <p:spPr>
          <a:xfrm>
            <a:off x="1717767" y="1085927"/>
            <a:ext cx="8596668" cy="420211"/>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742950" indent="-742950">
              <a:buFont typeface="+mj-lt"/>
              <a:buAutoNum type="alphaLcPeriod" startAt="3"/>
            </a:pPr>
            <a:r>
              <a:rPr lang="fr-FR" dirty="0"/>
              <a:t>A Quoi Servent les </a:t>
            </a:r>
            <a:r>
              <a:rPr lang="fr-FR" dirty="0" err="1"/>
              <a:t>Personas</a:t>
            </a:r>
            <a:r>
              <a:rPr lang="fr-FR" dirty="0"/>
              <a:t> ?</a:t>
            </a:r>
          </a:p>
          <a:p>
            <a:pPr marL="742950" indent="-742950">
              <a:buFont typeface="+mj-lt"/>
              <a:buAutoNum type="alphaLcPeriod" startAt="3"/>
            </a:pPr>
            <a:endParaRPr lang="fr-FR" dirty="0"/>
          </a:p>
        </p:txBody>
      </p:sp>
    </p:spTree>
    <p:extLst>
      <p:ext uri="{BB962C8B-B14F-4D97-AF65-F5344CB8AC3E}">
        <p14:creationId xmlns:p14="http://schemas.microsoft.com/office/powerpoint/2010/main" val="1614197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Espace réservé du contenu 9">
            <a:extLst>
              <a:ext uri="{FF2B5EF4-FFF2-40B4-BE49-F238E27FC236}">
                <a16:creationId xmlns:a16="http://schemas.microsoft.com/office/drawing/2014/main" id="{DB4C20FE-FF0A-02B3-9F15-73C42CEC9CF2}"/>
              </a:ext>
            </a:extLst>
          </p:cNvPr>
          <p:cNvPicPr>
            <a:picLocks noGrp="1" noChangeAspect="1"/>
          </p:cNvPicPr>
          <p:nvPr>
            <p:ph idx="1"/>
          </p:nvPr>
        </p:nvPicPr>
        <p:blipFill>
          <a:blip r:embed="rId2"/>
          <a:stretch>
            <a:fillRect/>
          </a:stretch>
        </p:blipFill>
        <p:spPr>
          <a:xfrm>
            <a:off x="5254973" y="212155"/>
            <a:ext cx="6757292" cy="5986942"/>
          </a:xfrm>
        </p:spPr>
      </p:pic>
      <p:sp>
        <p:nvSpPr>
          <p:cNvPr id="2" name="ZoneTexte 1">
            <a:extLst>
              <a:ext uri="{FF2B5EF4-FFF2-40B4-BE49-F238E27FC236}">
                <a16:creationId xmlns:a16="http://schemas.microsoft.com/office/drawing/2014/main" id="{5F790881-57B7-9CBC-E02B-4D6DC63D2DF7}"/>
              </a:ext>
            </a:extLst>
          </p:cNvPr>
          <p:cNvSpPr txBox="1"/>
          <p:nvPr/>
        </p:nvSpPr>
        <p:spPr>
          <a:xfrm>
            <a:off x="2041864" y="6276513"/>
            <a:ext cx="5832629" cy="369332"/>
          </a:xfrm>
          <a:prstGeom prst="rect">
            <a:avLst/>
          </a:prstGeom>
          <a:noFill/>
        </p:spPr>
        <p:txBody>
          <a:bodyPr wrap="square" rtlCol="0">
            <a:spAutoFit/>
          </a:bodyPr>
          <a:lstStyle/>
          <a:p>
            <a:r>
              <a:rPr lang="fr-FR" dirty="0"/>
              <a:t>Image 1: </a:t>
            </a:r>
            <a:r>
              <a:rPr lang="fr-FR" dirty="0" err="1"/>
              <a:t>Distictions</a:t>
            </a:r>
            <a:r>
              <a:rPr lang="fr-FR" dirty="0"/>
              <a:t> entre 3 différents </a:t>
            </a:r>
            <a:r>
              <a:rPr lang="fr-FR" dirty="0" err="1"/>
              <a:t>Personas</a:t>
            </a:r>
            <a:endParaRPr lang="fr-FR" dirty="0"/>
          </a:p>
        </p:txBody>
      </p:sp>
      <p:sp>
        <p:nvSpPr>
          <p:cNvPr id="3" name="ZoneTexte 2">
            <a:extLst>
              <a:ext uri="{FF2B5EF4-FFF2-40B4-BE49-F238E27FC236}">
                <a16:creationId xmlns:a16="http://schemas.microsoft.com/office/drawing/2014/main" id="{0C752158-E80D-16C5-461D-090531CCCEC4}"/>
              </a:ext>
            </a:extLst>
          </p:cNvPr>
          <p:cNvSpPr txBox="1"/>
          <p:nvPr/>
        </p:nvSpPr>
        <p:spPr>
          <a:xfrm>
            <a:off x="35510" y="1617955"/>
            <a:ext cx="5033639" cy="1200329"/>
          </a:xfrm>
          <a:prstGeom prst="rect">
            <a:avLst/>
          </a:prstGeom>
          <a:noFill/>
        </p:spPr>
        <p:txBody>
          <a:bodyPr wrap="square" rtlCol="0">
            <a:spAutoFit/>
          </a:bodyPr>
          <a:lstStyle/>
          <a:p>
            <a:pPr algn="just"/>
            <a:r>
              <a:rPr lang="en-US" dirty="0"/>
              <a:t>"The best way to successfully accommodate a variety of users is to design for specific types of individuals with specific needs." (Cooper, 2004)</a:t>
            </a:r>
            <a:endParaRPr lang="fr-FR" dirty="0"/>
          </a:p>
        </p:txBody>
      </p:sp>
    </p:spTree>
    <p:extLst>
      <p:ext uri="{BB962C8B-B14F-4D97-AF65-F5344CB8AC3E}">
        <p14:creationId xmlns:p14="http://schemas.microsoft.com/office/powerpoint/2010/main" val="428144460"/>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280B618-1E84-30D3-E049-ADC408704BAC}"/>
              </a:ext>
            </a:extLst>
          </p:cNvPr>
          <p:cNvSpPr>
            <a:spLocks noGrp="1"/>
          </p:cNvSpPr>
          <p:nvPr>
            <p:ph idx="1"/>
          </p:nvPr>
        </p:nvSpPr>
        <p:spPr>
          <a:xfrm>
            <a:off x="337351" y="1506138"/>
            <a:ext cx="9133439" cy="5007006"/>
          </a:xfrm>
        </p:spPr>
        <p:txBody>
          <a:bodyPr>
            <a:normAutofit lnSpcReduction="10000"/>
          </a:bodyPr>
          <a:lstStyle/>
          <a:p>
            <a:pPr algn="just" fontAlgn="base"/>
            <a:r>
              <a:rPr lang="fr-FR" sz="2000" b="1" i="0" dirty="0">
                <a:solidFill>
                  <a:srgbClr val="000000"/>
                </a:solidFill>
                <a:effectLst/>
              </a:rPr>
              <a:t>La méthode du persona apporte de nombreux avantages</a:t>
            </a:r>
          </a:p>
          <a:p>
            <a:pPr algn="just" fontAlgn="base">
              <a:buFont typeface="Arial" panose="020B0604020202020204" pitchFamily="34" charset="0"/>
              <a:buChar char="•"/>
            </a:pPr>
            <a:r>
              <a:rPr lang="fr-FR" sz="2000" b="0" i="0" dirty="0">
                <a:solidFill>
                  <a:srgbClr val="363636"/>
                </a:solidFill>
                <a:effectLst/>
              </a:rPr>
              <a:t>Donner un </a:t>
            </a:r>
            <a:r>
              <a:rPr lang="fr-FR" sz="2000" b="1" i="0" dirty="0">
                <a:solidFill>
                  <a:srgbClr val="363636"/>
                </a:solidFill>
                <a:effectLst/>
              </a:rPr>
              <a:t>visage </a:t>
            </a:r>
            <a:r>
              <a:rPr lang="fr-FR" sz="2000" b="0" i="0" dirty="0">
                <a:solidFill>
                  <a:srgbClr val="363636"/>
                </a:solidFill>
                <a:effectLst/>
              </a:rPr>
              <a:t>et une vie aux </a:t>
            </a:r>
            <a:r>
              <a:rPr lang="fr-FR" sz="2000" b="1" i="0" dirty="0">
                <a:solidFill>
                  <a:srgbClr val="363636"/>
                </a:solidFill>
                <a:effectLst/>
              </a:rPr>
              <a:t>utilisateurs cibles</a:t>
            </a:r>
            <a:r>
              <a:rPr lang="fr-FR" sz="2000" b="0" i="0" dirty="0">
                <a:solidFill>
                  <a:srgbClr val="363636"/>
                </a:solidFill>
                <a:effectLst/>
              </a:rPr>
              <a:t> pour mieux identifier leurs attentes, besoins et ressentis.</a:t>
            </a:r>
          </a:p>
          <a:p>
            <a:pPr algn="just" fontAlgn="base">
              <a:buFont typeface="Arial" panose="020B0604020202020204" pitchFamily="34" charset="0"/>
              <a:buChar char="•"/>
            </a:pPr>
            <a:r>
              <a:rPr lang="fr-FR" sz="2000" b="1" i="0" dirty="0">
                <a:solidFill>
                  <a:srgbClr val="363636"/>
                </a:solidFill>
                <a:effectLst/>
              </a:rPr>
              <a:t>Augmenter l’empathie des designers UX UI</a:t>
            </a:r>
            <a:r>
              <a:rPr lang="fr-FR" sz="2000" b="0" i="0" dirty="0">
                <a:solidFill>
                  <a:srgbClr val="363636"/>
                </a:solidFill>
                <a:effectLst/>
              </a:rPr>
              <a:t> et des professionnels impliqués dans un projet. Ils peuvent ainsi concevoir une interface utilisateur améliorée, alignée sur les objectifs réels de l’usager.</a:t>
            </a:r>
          </a:p>
          <a:p>
            <a:pPr algn="just" fontAlgn="base">
              <a:buFont typeface="Arial" panose="020B0604020202020204" pitchFamily="34" charset="0"/>
              <a:buChar char="•"/>
            </a:pPr>
            <a:r>
              <a:rPr lang="fr-FR" sz="2000" b="0" i="0" dirty="0">
                <a:solidFill>
                  <a:srgbClr val="363636"/>
                </a:solidFill>
                <a:effectLst/>
              </a:rPr>
              <a:t>Permettre à l’ensemble de l’équipe de partager une </a:t>
            </a:r>
            <a:r>
              <a:rPr lang="fr-FR" sz="2000" b="1" i="0" dirty="0">
                <a:solidFill>
                  <a:srgbClr val="363636"/>
                </a:solidFill>
                <a:effectLst/>
              </a:rPr>
              <a:t>même compréhension</a:t>
            </a:r>
            <a:r>
              <a:rPr lang="fr-FR" sz="2000" b="0" i="0" dirty="0">
                <a:solidFill>
                  <a:srgbClr val="363636"/>
                </a:solidFill>
                <a:effectLst/>
              </a:rPr>
              <a:t> de la population ciblée et de ses caractéristiques.</a:t>
            </a:r>
          </a:p>
          <a:p>
            <a:pPr algn="just" fontAlgn="base">
              <a:buFont typeface="Arial" panose="020B0604020202020204" pitchFamily="34" charset="0"/>
              <a:buChar char="•"/>
            </a:pPr>
            <a:r>
              <a:rPr lang="fr-FR" sz="2000" b="1" i="0" dirty="0">
                <a:solidFill>
                  <a:srgbClr val="363636"/>
                </a:solidFill>
                <a:effectLst/>
              </a:rPr>
              <a:t>Faciliter la communication et la prise de décision</a:t>
            </a:r>
            <a:r>
              <a:rPr lang="fr-FR" sz="2000" b="0" i="0" dirty="0">
                <a:solidFill>
                  <a:srgbClr val="363636"/>
                </a:solidFill>
                <a:effectLst/>
              </a:rPr>
              <a:t> qui pourraient être entravées par des opinions personnelles ou des préjugés divergents.</a:t>
            </a:r>
          </a:p>
          <a:p>
            <a:pPr algn="just" fontAlgn="base">
              <a:buFont typeface="Arial" panose="020B0604020202020204" pitchFamily="34" charset="0"/>
              <a:buChar char="•"/>
            </a:pPr>
            <a:r>
              <a:rPr lang="fr-FR" sz="2000" b="0" i="0" dirty="0">
                <a:solidFill>
                  <a:srgbClr val="363636"/>
                </a:solidFill>
                <a:effectLst/>
              </a:rPr>
              <a:t>Déterminer les spécifications fonctionnelles et techniques adaptées aux </a:t>
            </a:r>
            <a:r>
              <a:rPr lang="fr-FR" sz="2000" b="1" i="0" dirty="0">
                <a:solidFill>
                  <a:srgbClr val="363636"/>
                </a:solidFill>
                <a:effectLst/>
              </a:rPr>
              <a:t>différentes catégories d’utilisateurs </a:t>
            </a:r>
            <a:r>
              <a:rPr lang="fr-FR" sz="2000" b="0" i="0" dirty="0">
                <a:solidFill>
                  <a:srgbClr val="363636"/>
                </a:solidFill>
                <a:effectLst/>
              </a:rPr>
              <a:t>(identifier les priorités).</a:t>
            </a:r>
          </a:p>
          <a:p>
            <a:pPr algn="just" fontAlgn="base">
              <a:buFont typeface="Arial" panose="020B0604020202020204" pitchFamily="34" charset="0"/>
              <a:buChar char="•"/>
            </a:pPr>
            <a:r>
              <a:rPr lang="fr-FR" sz="2000" b="1" i="0" dirty="0">
                <a:solidFill>
                  <a:srgbClr val="363636"/>
                </a:solidFill>
                <a:effectLst/>
              </a:rPr>
              <a:t>Recruter les participants ciblés </a:t>
            </a:r>
            <a:r>
              <a:rPr lang="fr-FR" sz="2000" b="0" i="0" dirty="0">
                <a:solidFill>
                  <a:srgbClr val="363636"/>
                </a:solidFill>
                <a:effectLst/>
              </a:rPr>
              <a:t>par le produit conçu dans l’objectif de réaliser des tests utilisateurs ou tests d’utilisabilité.</a:t>
            </a:r>
          </a:p>
        </p:txBody>
      </p:sp>
      <p:sp>
        <p:nvSpPr>
          <p:cNvPr id="4" name="Titre 1">
            <a:extLst>
              <a:ext uri="{FF2B5EF4-FFF2-40B4-BE49-F238E27FC236}">
                <a16:creationId xmlns:a16="http://schemas.microsoft.com/office/drawing/2014/main" id="{9EE770F0-ADFC-A45B-597F-F27EA82A35AA}"/>
              </a:ext>
            </a:extLst>
          </p:cNvPr>
          <p:cNvSpPr>
            <a:spLocks noGrp="1"/>
          </p:cNvSpPr>
          <p:nvPr>
            <p:ph type="title"/>
          </p:nvPr>
        </p:nvSpPr>
        <p:spPr>
          <a:xfrm>
            <a:off x="874122" y="381631"/>
            <a:ext cx="8596668" cy="704296"/>
          </a:xfrm>
        </p:spPr>
        <p:txBody>
          <a:bodyPr>
            <a:normAutofit/>
          </a:bodyPr>
          <a:lstStyle/>
          <a:p>
            <a:pPr marL="857250" indent="-857250">
              <a:buFont typeface="+mj-lt"/>
              <a:buAutoNum type="romanUcPeriod" startAt="2"/>
            </a:pPr>
            <a:r>
              <a:rPr lang="fr-FR" dirty="0"/>
              <a:t>Méthode des </a:t>
            </a:r>
            <a:r>
              <a:rPr lang="fr-FR" dirty="0" err="1"/>
              <a:t>Personas</a:t>
            </a:r>
            <a:r>
              <a:rPr lang="fr-FR" dirty="0"/>
              <a:t> en Ergonomie</a:t>
            </a:r>
          </a:p>
        </p:txBody>
      </p:sp>
      <p:sp>
        <p:nvSpPr>
          <p:cNvPr id="5" name="Titre 1">
            <a:extLst>
              <a:ext uri="{FF2B5EF4-FFF2-40B4-BE49-F238E27FC236}">
                <a16:creationId xmlns:a16="http://schemas.microsoft.com/office/drawing/2014/main" id="{EE719E02-C8AB-8558-85FC-8336777D2EC6}"/>
              </a:ext>
            </a:extLst>
          </p:cNvPr>
          <p:cNvSpPr txBox="1">
            <a:spLocks/>
          </p:cNvSpPr>
          <p:nvPr/>
        </p:nvSpPr>
        <p:spPr>
          <a:xfrm>
            <a:off x="1717767" y="1085927"/>
            <a:ext cx="8596668" cy="420211"/>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742950" indent="-742950">
              <a:buFont typeface="+mj-lt"/>
              <a:buAutoNum type="alphaLcPeriod" startAt="4"/>
            </a:pPr>
            <a:r>
              <a:rPr lang="fr-FR" dirty="0"/>
              <a:t>Avantages</a:t>
            </a:r>
          </a:p>
        </p:txBody>
      </p:sp>
    </p:spTree>
    <p:extLst>
      <p:ext uri="{BB962C8B-B14F-4D97-AF65-F5344CB8AC3E}">
        <p14:creationId xmlns:p14="http://schemas.microsoft.com/office/powerpoint/2010/main" val="756297090"/>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B390A24-01DB-00F2-3484-4DD8CDB56A70}"/>
              </a:ext>
            </a:extLst>
          </p:cNvPr>
          <p:cNvSpPr>
            <a:spLocks noGrp="1"/>
          </p:cNvSpPr>
          <p:nvPr>
            <p:ph idx="1"/>
          </p:nvPr>
        </p:nvSpPr>
        <p:spPr>
          <a:xfrm>
            <a:off x="408373" y="1980408"/>
            <a:ext cx="9353901" cy="3514870"/>
          </a:xfrm>
        </p:spPr>
        <p:txBody>
          <a:bodyPr/>
          <a:lstStyle/>
          <a:p>
            <a:pPr marL="0" indent="0" algn="just">
              <a:lnSpc>
                <a:spcPct val="150000"/>
              </a:lnSpc>
              <a:buNone/>
            </a:pPr>
            <a:r>
              <a:rPr lang="fr-FR" b="0" i="0" dirty="0">
                <a:solidFill>
                  <a:srgbClr val="202122"/>
                </a:solidFill>
                <a:effectLst/>
              </a:rPr>
              <a:t>	Plusieurs études de Chapman (</a:t>
            </a:r>
            <a:r>
              <a:rPr lang="fr-FR" b="1" i="0" u="sng" dirty="0">
                <a:effectLst/>
                <a:latin typeface="Roboto" panose="02000000000000000000" pitchFamily="2" charset="0"/>
                <a:hlinkClick r:id="rId2"/>
              </a:rPr>
              <a:t>Christopher Chapman</a:t>
            </a:r>
            <a:r>
              <a:rPr lang="fr-FR" b="0" i="0" dirty="0">
                <a:solidFill>
                  <a:srgbClr val="202122"/>
                </a:solidFill>
                <a:effectLst/>
              </a:rPr>
              <a:t>) et ses collaborateurs ont mis en évidence des lacunes dans la méthode des </a:t>
            </a:r>
            <a:r>
              <a:rPr lang="fr-FR" b="0" i="0" dirty="0" err="1">
                <a:solidFill>
                  <a:srgbClr val="202122"/>
                </a:solidFill>
                <a:effectLst/>
              </a:rPr>
              <a:t>personas</a:t>
            </a:r>
            <a:r>
              <a:rPr lang="fr-FR" b="0" i="0" dirty="0">
                <a:solidFill>
                  <a:srgbClr val="202122"/>
                </a:solidFill>
                <a:effectLst/>
              </a:rPr>
              <a:t>. En termes de rigueur scientifique, Chapman et Milham</a:t>
            </a:r>
            <a:r>
              <a:rPr lang="fr-FR" baseline="30000" dirty="0">
                <a:solidFill>
                  <a:srgbClr val="3366CC"/>
                </a:solidFill>
                <a:hlinkClick r:id="rId3"/>
              </a:rPr>
              <a:t>4</a:t>
            </a:r>
            <a:r>
              <a:rPr lang="fr-FR" b="0" i="0" dirty="0">
                <a:solidFill>
                  <a:srgbClr val="202122"/>
                </a:solidFill>
                <a:effectLst/>
              </a:rPr>
              <a:t> (Russell P. </a:t>
            </a:r>
            <a:r>
              <a:rPr lang="fr-FR" b="0" i="0" dirty="0" err="1">
                <a:solidFill>
                  <a:srgbClr val="202122"/>
                </a:solidFill>
                <a:effectLst/>
              </a:rPr>
              <a:t>Milham</a:t>
            </a:r>
            <a:r>
              <a:rPr lang="fr-FR" b="0" i="0" dirty="0">
                <a:solidFill>
                  <a:srgbClr val="202122"/>
                </a:solidFill>
                <a:effectLst/>
              </a:rPr>
              <a:t>)considèrent que si les </a:t>
            </a:r>
            <a:r>
              <a:rPr lang="fr-FR" b="0" i="0" dirty="0" err="1">
                <a:solidFill>
                  <a:srgbClr val="202122"/>
                </a:solidFill>
                <a:effectLst/>
              </a:rPr>
              <a:t>personas</a:t>
            </a:r>
            <a:r>
              <a:rPr lang="fr-FR" b="0" i="0" dirty="0">
                <a:solidFill>
                  <a:srgbClr val="202122"/>
                </a:solidFill>
                <a:effectLst/>
              </a:rPr>
              <a:t> sont des personnes fictives, il n'existe pas de relation claire avec les caractéristiques des vrais utilisateurs ou consommateurs. Ainsi, le fait de rassembler et conjuguer des données ne peut pas être considéré comme une procédure fiable et robuste ; par conséquent, cette méthode est jugée non-scientifique</a:t>
            </a:r>
            <a:r>
              <a:rPr lang="fr-FR" b="0" i="0" u="none" strike="noStrike" baseline="30000" dirty="0">
                <a:solidFill>
                  <a:srgbClr val="3366CC"/>
                </a:solidFill>
                <a:effectLst/>
                <a:hlinkClick r:id="rId4"/>
              </a:rPr>
              <a:t>5</a:t>
            </a:r>
            <a:r>
              <a:rPr lang="fr-FR" b="0" i="0" dirty="0">
                <a:solidFill>
                  <a:srgbClr val="202122"/>
                </a:solidFill>
                <a:effectLst/>
              </a:rPr>
              <a:t>.</a:t>
            </a:r>
            <a:endParaRPr lang="fr-FR" dirty="0"/>
          </a:p>
        </p:txBody>
      </p:sp>
      <p:sp>
        <p:nvSpPr>
          <p:cNvPr id="4" name="Titre 1">
            <a:extLst>
              <a:ext uri="{FF2B5EF4-FFF2-40B4-BE49-F238E27FC236}">
                <a16:creationId xmlns:a16="http://schemas.microsoft.com/office/drawing/2014/main" id="{F559E5C3-201C-F146-EF29-378205A492F7}"/>
              </a:ext>
            </a:extLst>
          </p:cNvPr>
          <p:cNvSpPr>
            <a:spLocks noGrp="1"/>
          </p:cNvSpPr>
          <p:nvPr>
            <p:ph type="title"/>
          </p:nvPr>
        </p:nvSpPr>
        <p:spPr>
          <a:xfrm>
            <a:off x="874122" y="381631"/>
            <a:ext cx="8596668" cy="704296"/>
          </a:xfrm>
        </p:spPr>
        <p:txBody>
          <a:bodyPr>
            <a:normAutofit/>
          </a:bodyPr>
          <a:lstStyle/>
          <a:p>
            <a:pPr marL="857250" indent="-857250">
              <a:buFont typeface="+mj-lt"/>
              <a:buAutoNum type="romanUcPeriod" startAt="2"/>
            </a:pPr>
            <a:r>
              <a:rPr lang="fr-FR" dirty="0"/>
              <a:t>Méthode des </a:t>
            </a:r>
            <a:r>
              <a:rPr lang="fr-FR" dirty="0" err="1"/>
              <a:t>Personas</a:t>
            </a:r>
            <a:r>
              <a:rPr lang="fr-FR" dirty="0"/>
              <a:t> en Ergonomie</a:t>
            </a:r>
          </a:p>
        </p:txBody>
      </p:sp>
      <p:sp>
        <p:nvSpPr>
          <p:cNvPr id="5" name="Titre 1">
            <a:extLst>
              <a:ext uri="{FF2B5EF4-FFF2-40B4-BE49-F238E27FC236}">
                <a16:creationId xmlns:a16="http://schemas.microsoft.com/office/drawing/2014/main" id="{6E531C54-C017-D04D-BC7D-15CBE7FFCC5D}"/>
              </a:ext>
            </a:extLst>
          </p:cNvPr>
          <p:cNvSpPr txBox="1">
            <a:spLocks/>
          </p:cNvSpPr>
          <p:nvPr/>
        </p:nvSpPr>
        <p:spPr>
          <a:xfrm>
            <a:off x="1717767" y="1085927"/>
            <a:ext cx="8596668" cy="420211"/>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742950" indent="-742950">
              <a:buFont typeface="+mj-lt"/>
              <a:buAutoNum type="alphaLcPeriod" startAt="5"/>
            </a:pPr>
            <a:r>
              <a:rPr lang="fr-FR" dirty="0"/>
              <a:t>Inconvénients</a:t>
            </a:r>
          </a:p>
        </p:txBody>
      </p:sp>
    </p:spTree>
    <p:extLst>
      <p:ext uri="{BB962C8B-B14F-4D97-AF65-F5344CB8AC3E}">
        <p14:creationId xmlns:p14="http://schemas.microsoft.com/office/powerpoint/2010/main" val="2813131330"/>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0D49913-4B57-E40B-160F-D37E7F142269}"/>
              </a:ext>
            </a:extLst>
          </p:cNvPr>
          <p:cNvSpPr>
            <a:spLocks noGrp="1"/>
          </p:cNvSpPr>
          <p:nvPr>
            <p:ph idx="1"/>
          </p:nvPr>
        </p:nvSpPr>
        <p:spPr>
          <a:xfrm>
            <a:off x="239697" y="1390728"/>
            <a:ext cx="9667781" cy="4970231"/>
          </a:xfrm>
        </p:spPr>
        <p:txBody>
          <a:bodyPr>
            <a:normAutofit/>
          </a:bodyPr>
          <a:lstStyle/>
          <a:p>
            <a:pPr algn="l"/>
            <a:r>
              <a:rPr lang="fr-FR" i="0" dirty="0">
                <a:solidFill>
                  <a:srgbClr val="636363"/>
                </a:solidFill>
                <a:effectLst/>
                <a:cs typeface="Arial" panose="020B0604020202020204" pitchFamily="34" charset="0"/>
              </a:rPr>
              <a:t>Objectifs</a:t>
            </a:r>
          </a:p>
          <a:p>
            <a:pPr marL="0" indent="0" algn="l">
              <a:buNone/>
            </a:pPr>
            <a:r>
              <a:rPr lang="fr-FR" i="0" dirty="0">
                <a:solidFill>
                  <a:srgbClr val="636363"/>
                </a:solidFill>
                <a:effectLst/>
                <a:cs typeface="Arial" panose="020B0604020202020204" pitchFamily="34" charset="0"/>
              </a:rPr>
              <a:t>	La phase de recherche consiste à recueillir des informations sur les utilisateurs actuels ou futurs du produit.</a:t>
            </a:r>
          </a:p>
          <a:p>
            <a:pPr marL="0" indent="0" algn="l">
              <a:buNone/>
            </a:pPr>
            <a:endParaRPr lang="fr-FR" i="0" dirty="0">
              <a:solidFill>
                <a:srgbClr val="636363"/>
              </a:solidFill>
              <a:effectLst/>
              <a:cs typeface="Arial" panose="020B0604020202020204" pitchFamily="34" charset="0"/>
            </a:endParaRPr>
          </a:p>
          <a:p>
            <a:pPr algn="l"/>
            <a:r>
              <a:rPr lang="fr-FR" i="0" dirty="0">
                <a:solidFill>
                  <a:srgbClr val="636363"/>
                </a:solidFill>
                <a:effectLst/>
                <a:cs typeface="Arial" panose="020B0604020202020204" pitchFamily="34" charset="0"/>
              </a:rPr>
              <a:t>Les méthodes suivantes peuvent-être utilisées pour la phase de recherche :</a:t>
            </a:r>
          </a:p>
          <a:p>
            <a:pPr algn="l">
              <a:buFont typeface="Arial" panose="020B0604020202020204" pitchFamily="34" charset="0"/>
              <a:buChar char="•"/>
            </a:pPr>
            <a:r>
              <a:rPr lang="fr-FR" i="0" dirty="0">
                <a:solidFill>
                  <a:srgbClr val="636363"/>
                </a:solidFill>
                <a:effectLst/>
                <a:cs typeface="Arial" panose="020B0604020202020204" pitchFamily="34" charset="0"/>
              </a:rPr>
              <a:t>Entretien (exploratoire, semi-dirigé).</a:t>
            </a:r>
          </a:p>
          <a:p>
            <a:pPr algn="l">
              <a:buFont typeface="Arial" panose="020B0604020202020204" pitchFamily="34" charset="0"/>
              <a:buChar char="•"/>
            </a:pPr>
            <a:r>
              <a:rPr lang="fr-FR" i="0" dirty="0">
                <a:solidFill>
                  <a:srgbClr val="636363"/>
                </a:solidFill>
                <a:effectLst/>
                <a:cs typeface="Arial" panose="020B0604020202020204" pitchFamily="34" charset="0"/>
              </a:rPr>
              <a:t>Observation directe (en situation).</a:t>
            </a:r>
          </a:p>
          <a:p>
            <a:pPr algn="l">
              <a:buFont typeface="Arial" panose="020B0604020202020204" pitchFamily="34" charset="0"/>
              <a:buChar char="•"/>
            </a:pPr>
            <a:r>
              <a:rPr lang="fr-FR" i="0" dirty="0">
                <a:solidFill>
                  <a:srgbClr val="636363"/>
                </a:solidFill>
                <a:effectLst/>
                <a:cs typeface="Arial" panose="020B0604020202020204" pitchFamily="34" charset="0"/>
              </a:rPr>
              <a:t>Questionnaire en ligne (qualitatif, quantitatif).</a:t>
            </a:r>
          </a:p>
          <a:p>
            <a:pPr algn="l">
              <a:buFont typeface="Arial" panose="020B0604020202020204" pitchFamily="34" charset="0"/>
              <a:buChar char="•"/>
            </a:pPr>
            <a:r>
              <a:rPr lang="fr-FR" i="0" dirty="0">
                <a:solidFill>
                  <a:srgbClr val="636363"/>
                </a:solidFill>
                <a:effectLst/>
                <a:cs typeface="Arial" panose="020B0604020202020204" pitchFamily="34" charset="0"/>
              </a:rPr>
              <a:t>État de l’art (livre, publication, article web).</a:t>
            </a:r>
          </a:p>
          <a:p>
            <a:pPr algn="l">
              <a:buFont typeface="Arial" panose="020B0604020202020204" pitchFamily="34" charset="0"/>
              <a:buChar char="•"/>
            </a:pPr>
            <a:r>
              <a:rPr lang="fr-FR" i="0" dirty="0">
                <a:solidFill>
                  <a:srgbClr val="636363"/>
                </a:solidFill>
                <a:effectLst/>
                <a:cs typeface="Arial" panose="020B0604020202020204" pitchFamily="34" charset="0"/>
              </a:rPr>
              <a:t>Focus group.</a:t>
            </a:r>
          </a:p>
          <a:p>
            <a:pPr algn="l">
              <a:buFont typeface="Arial" panose="020B0604020202020204" pitchFamily="34" charset="0"/>
              <a:buChar char="•"/>
            </a:pPr>
            <a:r>
              <a:rPr lang="fr-FR" i="0" dirty="0">
                <a:solidFill>
                  <a:srgbClr val="636363"/>
                </a:solidFill>
                <a:effectLst/>
                <a:cs typeface="Arial" panose="020B0604020202020204" pitchFamily="34" charset="0"/>
              </a:rPr>
              <a:t>Analyse sectorielle</a:t>
            </a:r>
          </a:p>
          <a:p>
            <a:pPr algn="l">
              <a:buFont typeface="Arial" panose="020B0604020202020204" pitchFamily="34" charset="0"/>
              <a:buChar char="•"/>
            </a:pPr>
            <a:endParaRPr lang="fr-FR" i="0" dirty="0">
              <a:solidFill>
                <a:srgbClr val="636363"/>
              </a:solidFill>
              <a:effectLst/>
              <a:cs typeface="Arial" panose="020B0604020202020204" pitchFamily="34" charset="0"/>
            </a:endParaRPr>
          </a:p>
          <a:p>
            <a:pPr marL="0" indent="0" algn="l">
              <a:buNone/>
            </a:pPr>
            <a:endParaRPr lang="fr-FR" i="0" dirty="0">
              <a:solidFill>
                <a:srgbClr val="636363"/>
              </a:solidFill>
              <a:effectLst/>
              <a:cs typeface="Arial" panose="020B0604020202020204" pitchFamily="34" charset="0"/>
            </a:endParaRPr>
          </a:p>
          <a:p>
            <a:pPr marL="0" indent="0">
              <a:buNone/>
            </a:pPr>
            <a:endParaRPr lang="fr-FR" dirty="0">
              <a:cs typeface="Arial" panose="020B0604020202020204" pitchFamily="34" charset="0"/>
            </a:endParaRPr>
          </a:p>
        </p:txBody>
      </p:sp>
      <p:sp>
        <p:nvSpPr>
          <p:cNvPr id="4" name="Titre 1">
            <a:extLst>
              <a:ext uri="{FF2B5EF4-FFF2-40B4-BE49-F238E27FC236}">
                <a16:creationId xmlns:a16="http://schemas.microsoft.com/office/drawing/2014/main" id="{B30AB4FE-6DB2-6591-9D44-323E1FBBDE1D}"/>
              </a:ext>
            </a:extLst>
          </p:cNvPr>
          <p:cNvSpPr>
            <a:spLocks noGrp="1"/>
          </p:cNvSpPr>
          <p:nvPr>
            <p:ph type="title"/>
          </p:nvPr>
        </p:nvSpPr>
        <p:spPr>
          <a:xfrm>
            <a:off x="874122" y="381631"/>
            <a:ext cx="8596668" cy="704296"/>
          </a:xfrm>
        </p:spPr>
        <p:txBody>
          <a:bodyPr>
            <a:normAutofit/>
          </a:bodyPr>
          <a:lstStyle/>
          <a:p>
            <a:pPr marL="857250" indent="-857250">
              <a:buFont typeface="+mj-lt"/>
              <a:buAutoNum type="romanUcPeriod" startAt="3"/>
            </a:pPr>
            <a:r>
              <a:rPr lang="fr-FR" dirty="0"/>
              <a:t>CREATION D’UN PERSONA</a:t>
            </a:r>
          </a:p>
        </p:txBody>
      </p:sp>
      <p:sp>
        <p:nvSpPr>
          <p:cNvPr id="5" name="Titre 1">
            <a:extLst>
              <a:ext uri="{FF2B5EF4-FFF2-40B4-BE49-F238E27FC236}">
                <a16:creationId xmlns:a16="http://schemas.microsoft.com/office/drawing/2014/main" id="{4B3BAA3D-630B-AC1B-48AA-609366EA2D41}"/>
              </a:ext>
            </a:extLst>
          </p:cNvPr>
          <p:cNvSpPr txBox="1">
            <a:spLocks/>
          </p:cNvSpPr>
          <p:nvPr/>
        </p:nvSpPr>
        <p:spPr>
          <a:xfrm>
            <a:off x="1717767" y="1085927"/>
            <a:ext cx="8596668" cy="420211"/>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742950" indent="-742950">
              <a:buFont typeface="+mj-lt"/>
              <a:buAutoNum type="alphaLcPeriod"/>
            </a:pPr>
            <a:r>
              <a:rPr lang="fr-FR" dirty="0"/>
              <a:t>Recherche</a:t>
            </a:r>
          </a:p>
        </p:txBody>
      </p:sp>
    </p:spTree>
    <p:extLst>
      <p:ext uri="{BB962C8B-B14F-4D97-AF65-F5344CB8AC3E}">
        <p14:creationId xmlns:p14="http://schemas.microsoft.com/office/powerpoint/2010/main" val="868303784"/>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0D49913-4B57-E40B-160F-D37E7F142269}"/>
              </a:ext>
            </a:extLst>
          </p:cNvPr>
          <p:cNvSpPr>
            <a:spLocks noGrp="1"/>
          </p:cNvSpPr>
          <p:nvPr>
            <p:ph idx="1"/>
          </p:nvPr>
        </p:nvSpPr>
        <p:spPr>
          <a:xfrm>
            <a:off x="239697" y="1390728"/>
            <a:ext cx="9667781" cy="4970231"/>
          </a:xfrm>
        </p:spPr>
        <p:txBody>
          <a:bodyPr>
            <a:normAutofit/>
          </a:bodyPr>
          <a:lstStyle/>
          <a:p>
            <a:pPr marL="0" indent="0" algn="just">
              <a:lnSpc>
                <a:spcPct val="150000"/>
              </a:lnSpc>
              <a:buNone/>
            </a:pPr>
            <a:r>
              <a:rPr lang="fr-FR" dirty="0"/>
              <a:t>Quelles que soient les méthodes mises en œuvre, elles doivent permettre de comprendre qui sont les utilisateurs du produit, dans quelles situations ils utilisent le produit (contexte et environnement), quels sont leurs buts, quels sont leurs comportements (tâches et actions), quelles sont leurs croyances et valeurs, quelles sont leurs expertises, quels sont les freins identifiés, que faut-il éviter, etc. </a:t>
            </a:r>
            <a:endParaRPr lang="fr-FR" i="0" dirty="0">
              <a:solidFill>
                <a:srgbClr val="636363"/>
              </a:solidFill>
              <a:effectLst/>
              <a:cs typeface="Arial" panose="020B0604020202020204" pitchFamily="34" charset="0"/>
            </a:endParaRPr>
          </a:p>
          <a:p>
            <a:pPr algn="just">
              <a:lnSpc>
                <a:spcPct val="150000"/>
              </a:lnSpc>
              <a:buFont typeface="Arial" panose="020B0604020202020204" pitchFamily="34" charset="0"/>
              <a:buChar char="•"/>
            </a:pPr>
            <a:endParaRPr lang="fr-FR" i="0" dirty="0">
              <a:solidFill>
                <a:srgbClr val="636363"/>
              </a:solidFill>
              <a:effectLst/>
              <a:cs typeface="Arial" panose="020B0604020202020204" pitchFamily="34" charset="0"/>
            </a:endParaRPr>
          </a:p>
          <a:p>
            <a:pPr algn="just">
              <a:lnSpc>
                <a:spcPct val="150000"/>
              </a:lnSpc>
            </a:pPr>
            <a:r>
              <a:rPr lang="fr-FR" i="0" dirty="0">
                <a:solidFill>
                  <a:srgbClr val="636363"/>
                </a:solidFill>
                <a:effectLst/>
                <a:cs typeface="Arial" panose="020B0604020202020204" pitchFamily="34" charset="0"/>
              </a:rPr>
              <a:t>Résultats</a:t>
            </a:r>
          </a:p>
          <a:p>
            <a:pPr marL="0" indent="0" algn="just">
              <a:lnSpc>
                <a:spcPct val="150000"/>
              </a:lnSpc>
              <a:buNone/>
            </a:pPr>
            <a:r>
              <a:rPr lang="fr-FR" i="0" dirty="0">
                <a:solidFill>
                  <a:srgbClr val="636363"/>
                </a:solidFill>
                <a:effectLst/>
                <a:cs typeface="Arial" panose="020B0604020202020204" pitchFamily="34" charset="0"/>
              </a:rPr>
              <a:t>	Les résultats de la phase de recherche sont des données brutes (non analysées) : photos, vidéos, enregistrements audio, notes, sources, etc.</a:t>
            </a:r>
          </a:p>
          <a:p>
            <a:pPr marL="0" indent="0" algn="just">
              <a:lnSpc>
                <a:spcPct val="150000"/>
              </a:lnSpc>
              <a:buNone/>
            </a:pPr>
            <a:endParaRPr lang="fr-FR" i="0" dirty="0">
              <a:solidFill>
                <a:srgbClr val="636363"/>
              </a:solidFill>
              <a:effectLst/>
              <a:cs typeface="Arial" panose="020B0604020202020204" pitchFamily="34" charset="0"/>
            </a:endParaRPr>
          </a:p>
          <a:p>
            <a:pPr marL="0" indent="0" algn="just">
              <a:lnSpc>
                <a:spcPct val="150000"/>
              </a:lnSpc>
              <a:buNone/>
            </a:pPr>
            <a:endParaRPr lang="fr-FR" dirty="0">
              <a:cs typeface="Arial" panose="020B0604020202020204" pitchFamily="34" charset="0"/>
            </a:endParaRPr>
          </a:p>
        </p:txBody>
      </p:sp>
      <p:sp>
        <p:nvSpPr>
          <p:cNvPr id="4" name="Titre 1">
            <a:extLst>
              <a:ext uri="{FF2B5EF4-FFF2-40B4-BE49-F238E27FC236}">
                <a16:creationId xmlns:a16="http://schemas.microsoft.com/office/drawing/2014/main" id="{B30AB4FE-6DB2-6591-9D44-323E1FBBDE1D}"/>
              </a:ext>
            </a:extLst>
          </p:cNvPr>
          <p:cNvSpPr>
            <a:spLocks noGrp="1"/>
          </p:cNvSpPr>
          <p:nvPr>
            <p:ph type="title"/>
          </p:nvPr>
        </p:nvSpPr>
        <p:spPr>
          <a:xfrm>
            <a:off x="874122" y="381631"/>
            <a:ext cx="8596668" cy="704296"/>
          </a:xfrm>
        </p:spPr>
        <p:txBody>
          <a:bodyPr>
            <a:normAutofit/>
          </a:bodyPr>
          <a:lstStyle/>
          <a:p>
            <a:pPr marL="857250" indent="-857250">
              <a:buFont typeface="+mj-lt"/>
              <a:buAutoNum type="romanUcPeriod" startAt="3"/>
            </a:pPr>
            <a:r>
              <a:rPr lang="fr-FR" dirty="0"/>
              <a:t>CREATION D’UN PERSONA</a:t>
            </a:r>
          </a:p>
        </p:txBody>
      </p:sp>
      <p:sp>
        <p:nvSpPr>
          <p:cNvPr id="5" name="Titre 1">
            <a:extLst>
              <a:ext uri="{FF2B5EF4-FFF2-40B4-BE49-F238E27FC236}">
                <a16:creationId xmlns:a16="http://schemas.microsoft.com/office/drawing/2014/main" id="{4B3BAA3D-630B-AC1B-48AA-609366EA2D41}"/>
              </a:ext>
            </a:extLst>
          </p:cNvPr>
          <p:cNvSpPr txBox="1">
            <a:spLocks/>
          </p:cNvSpPr>
          <p:nvPr/>
        </p:nvSpPr>
        <p:spPr>
          <a:xfrm>
            <a:off x="1717767" y="1085927"/>
            <a:ext cx="8596668" cy="420211"/>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742950" indent="-742950">
              <a:buFont typeface="+mj-lt"/>
              <a:buAutoNum type="alphaLcPeriod"/>
            </a:pPr>
            <a:r>
              <a:rPr lang="fr-FR" dirty="0"/>
              <a:t>Recherche (suite et fin)</a:t>
            </a:r>
          </a:p>
        </p:txBody>
      </p:sp>
    </p:spTree>
    <p:extLst>
      <p:ext uri="{BB962C8B-B14F-4D97-AF65-F5344CB8AC3E}">
        <p14:creationId xmlns:p14="http://schemas.microsoft.com/office/powerpoint/2010/main" val="3196749668"/>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C74F3CF-C680-B59F-42CD-F773A8D9D849}"/>
              </a:ext>
            </a:extLst>
          </p:cNvPr>
          <p:cNvSpPr>
            <a:spLocks noGrp="1"/>
          </p:cNvSpPr>
          <p:nvPr>
            <p:ph idx="1"/>
          </p:nvPr>
        </p:nvSpPr>
        <p:spPr>
          <a:xfrm>
            <a:off x="346229" y="1506139"/>
            <a:ext cx="9348187" cy="4970230"/>
          </a:xfrm>
        </p:spPr>
        <p:txBody>
          <a:bodyPr>
            <a:normAutofit/>
          </a:bodyPr>
          <a:lstStyle/>
          <a:p>
            <a:pPr algn="l"/>
            <a:r>
              <a:rPr lang="fr-FR" b="0" i="0" dirty="0">
                <a:solidFill>
                  <a:srgbClr val="636363"/>
                </a:solidFill>
                <a:effectLst/>
              </a:rPr>
              <a:t>Objectifs</a:t>
            </a:r>
          </a:p>
          <a:p>
            <a:pPr marL="0" indent="0" algn="l">
              <a:buNone/>
            </a:pPr>
            <a:r>
              <a:rPr lang="fr-FR" b="0" i="0" dirty="0">
                <a:solidFill>
                  <a:srgbClr val="636363"/>
                </a:solidFill>
                <a:effectLst/>
              </a:rPr>
              <a:t>	L’objectif de la phase d’analyse est d’identifier les buts et les comportements des personnes rencontrées afin de créer des regroupements.</a:t>
            </a:r>
          </a:p>
          <a:p>
            <a:pPr marL="0" indent="0">
              <a:buNone/>
            </a:pPr>
            <a:endParaRPr lang="fr-FR" dirty="0"/>
          </a:p>
          <a:p>
            <a:pPr algn="l"/>
            <a:r>
              <a:rPr lang="fr-FR" b="0" i="0" dirty="0">
                <a:solidFill>
                  <a:srgbClr val="636363"/>
                </a:solidFill>
                <a:effectLst/>
              </a:rPr>
              <a:t>Méthode</a:t>
            </a:r>
          </a:p>
          <a:p>
            <a:pPr algn="l">
              <a:buFont typeface="Arial" panose="020B0604020202020204" pitchFamily="34" charset="0"/>
              <a:buChar char="•"/>
            </a:pPr>
            <a:r>
              <a:rPr lang="fr-FR" b="0" i="0" dirty="0">
                <a:solidFill>
                  <a:srgbClr val="636363"/>
                </a:solidFill>
                <a:effectLst/>
              </a:rPr>
              <a:t>Identification des variables comportementales.</a:t>
            </a:r>
          </a:p>
          <a:p>
            <a:pPr algn="l">
              <a:buFont typeface="Arial" panose="020B0604020202020204" pitchFamily="34" charset="0"/>
              <a:buChar char="•"/>
            </a:pPr>
            <a:r>
              <a:rPr lang="fr-FR" b="0" i="0" dirty="0">
                <a:solidFill>
                  <a:srgbClr val="636363"/>
                </a:solidFill>
                <a:effectLst/>
              </a:rPr>
              <a:t>Répartition des participants sur des échelles.</a:t>
            </a:r>
          </a:p>
          <a:p>
            <a:pPr algn="l">
              <a:buFont typeface="Arial" panose="020B0604020202020204" pitchFamily="34" charset="0"/>
              <a:buChar char="•"/>
            </a:pPr>
            <a:r>
              <a:rPr lang="fr-FR" b="0" i="0" dirty="0">
                <a:solidFill>
                  <a:srgbClr val="636363"/>
                </a:solidFill>
                <a:effectLst/>
              </a:rPr>
              <a:t>Identification de schémas comportementaux proches.</a:t>
            </a:r>
          </a:p>
          <a:p>
            <a:pPr algn="l">
              <a:buFont typeface="Arial" panose="020B0604020202020204" pitchFamily="34" charset="0"/>
              <a:buChar char="•"/>
            </a:pPr>
            <a:r>
              <a:rPr lang="fr-FR" b="0" i="0" dirty="0">
                <a:solidFill>
                  <a:srgbClr val="636363"/>
                </a:solidFill>
                <a:effectLst/>
              </a:rPr>
              <a:t>Synthèse des données.</a:t>
            </a:r>
          </a:p>
          <a:p>
            <a:pPr marL="0" indent="0">
              <a:buNone/>
            </a:pPr>
            <a:endParaRPr lang="fr-FR" dirty="0"/>
          </a:p>
          <a:p>
            <a:pPr algn="l"/>
            <a:r>
              <a:rPr lang="fr-FR" b="0" i="0" dirty="0">
                <a:solidFill>
                  <a:srgbClr val="636363"/>
                </a:solidFill>
                <a:effectLst/>
              </a:rPr>
              <a:t>Résultats</a:t>
            </a:r>
          </a:p>
          <a:p>
            <a:pPr marL="0" indent="0" algn="l">
              <a:buNone/>
            </a:pPr>
            <a:r>
              <a:rPr lang="fr-FR" b="0" i="0" dirty="0">
                <a:solidFill>
                  <a:srgbClr val="636363"/>
                </a:solidFill>
                <a:effectLst/>
              </a:rPr>
              <a:t>	Le résultat de cette phase d’analyse est une cartographie des utilisateurs positionnés sur les différentes dimensions comportementales et regroupés par similarité.</a:t>
            </a:r>
            <a:endParaRPr lang="fr-FR" dirty="0"/>
          </a:p>
        </p:txBody>
      </p:sp>
      <p:sp>
        <p:nvSpPr>
          <p:cNvPr id="4" name="Titre 1">
            <a:extLst>
              <a:ext uri="{FF2B5EF4-FFF2-40B4-BE49-F238E27FC236}">
                <a16:creationId xmlns:a16="http://schemas.microsoft.com/office/drawing/2014/main" id="{971E33E8-71AF-10C3-0927-32D08686C5EF}"/>
              </a:ext>
            </a:extLst>
          </p:cNvPr>
          <p:cNvSpPr>
            <a:spLocks noGrp="1"/>
          </p:cNvSpPr>
          <p:nvPr>
            <p:ph type="title"/>
          </p:nvPr>
        </p:nvSpPr>
        <p:spPr>
          <a:xfrm>
            <a:off x="874122" y="381631"/>
            <a:ext cx="8596668" cy="704296"/>
          </a:xfrm>
        </p:spPr>
        <p:txBody>
          <a:bodyPr>
            <a:normAutofit/>
          </a:bodyPr>
          <a:lstStyle/>
          <a:p>
            <a:pPr marL="857250" indent="-857250">
              <a:buFont typeface="+mj-lt"/>
              <a:buAutoNum type="romanUcPeriod" startAt="3"/>
            </a:pPr>
            <a:r>
              <a:rPr lang="fr-FR" dirty="0"/>
              <a:t>CREATION D’UN PERSONA</a:t>
            </a:r>
          </a:p>
        </p:txBody>
      </p:sp>
      <p:sp>
        <p:nvSpPr>
          <p:cNvPr id="5" name="Titre 1">
            <a:extLst>
              <a:ext uri="{FF2B5EF4-FFF2-40B4-BE49-F238E27FC236}">
                <a16:creationId xmlns:a16="http://schemas.microsoft.com/office/drawing/2014/main" id="{48DD439F-7C23-70A8-4FE3-D8441FF8D075}"/>
              </a:ext>
            </a:extLst>
          </p:cNvPr>
          <p:cNvSpPr txBox="1">
            <a:spLocks/>
          </p:cNvSpPr>
          <p:nvPr/>
        </p:nvSpPr>
        <p:spPr>
          <a:xfrm>
            <a:off x="1717767" y="1085927"/>
            <a:ext cx="8596668" cy="420211"/>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742950" indent="-742950">
              <a:buFont typeface="+mj-lt"/>
              <a:buAutoNum type="alphaLcPeriod" startAt="2"/>
            </a:pPr>
            <a:r>
              <a:rPr lang="fr-FR" dirty="0"/>
              <a:t>Analyse</a:t>
            </a:r>
          </a:p>
        </p:txBody>
      </p:sp>
    </p:spTree>
    <p:extLst>
      <p:ext uri="{BB962C8B-B14F-4D97-AF65-F5344CB8AC3E}">
        <p14:creationId xmlns:p14="http://schemas.microsoft.com/office/powerpoint/2010/main" val="2672527794"/>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28C5293-3429-E8CA-741D-BA4D8094FF9D}"/>
              </a:ext>
            </a:extLst>
          </p:cNvPr>
          <p:cNvSpPr>
            <a:spLocks noGrp="1"/>
          </p:cNvSpPr>
          <p:nvPr>
            <p:ph idx="1"/>
          </p:nvPr>
        </p:nvSpPr>
        <p:spPr>
          <a:xfrm>
            <a:off x="186431" y="1506139"/>
            <a:ext cx="9284359" cy="5036704"/>
          </a:xfrm>
        </p:spPr>
        <p:txBody>
          <a:bodyPr>
            <a:normAutofit fontScale="92500" lnSpcReduction="20000"/>
          </a:bodyPr>
          <a:lstStyle/>
          <a:p>
            <a:pPr algn="just"/>
            <a:r>
              <a:rPr lang="fr-FR" sz="2000" b="0" i="0" dirty="0">
                <a:solidFill>
                  <a:srgbClr val="636363"/>
                </a:solidFill>
                <a:effectLst/>
              </a:rPr>
              <a:t>Objectifs</a:t>
            </a:r>
          </a:p>
          <a:p>
            <a:pPr marL="0" indent="0" algn="just">
              <a:buNone/>
            </a:pPr>
            <a:r>
              <a:rPr lang="fr-FR" sz="2000" dirty="0">
                <a:solidFill>
                  <a:srgbClr val="636363"/>
                </a:solidFill>
              </a:rPr>
              <a:t>	</a:t>
            </a:r>
            <a:r>
              <a:rPr lang="fr-FR" sz="2000" b="0" i="0" dirty="0">
                <a:solidFill>
                  <a:srgbClr val="636363"/>
                </a:solidFill>
                <a:effectLst/>
              </a:rPr>
              <a:t>La phase de modélisation est la phase finale. Elle a pour objectif de mettre en forme les </a:t>
            </a:r>
            <a:r>
              <a:rPr lang="fr-FR" sz="2000" b="0" i="0" dirty="0" err="1">
                <a:solidFill>
                  <a:srgbClr val="636363"/>
                </a:solidFill>
                <a:effectLst/>
              </a:rPr>
              <a:t>personas</a:t>
            </a:r>
            <a:r>
              <a:rPr lang="fr-FR" sz="2000" b="0" i="0" dirty="0">
                <a:solidFill>
                  <a:srgbClr val="636363"/>
                </a:solidFill>
                <a:effectLst/>
              </a:rPr>
              <a:t>.</a:t>
            </a:r>
          </a:p>
          <a:p>
            <a:pPr algn="just"/>
            <a:endParaRPr lang="fr-FR" sz="2000" b="0" i="0" dirty="0">
              <a:solidFill>
                <a:srgbClr val="636363"/>
              </a:solidFill>
              <a:effectLst/>
            </a:endParaRPr>
          </a:p>
          <a:p>
            <a:pPr algn="just"/>
            <a:r>
              <a:rPr lang="fr-FR" sz="2000" b="0" i="0" dirty="0">
                <a:solidFill>
                  <a:srgbClr val="636363"/>
                </a:solidFill>
                <a:effectLst/>
              </a:rPr>
              <a:t>Méthode</a:t>
            </a:r>
          </a:p>
          <a:p>
            <a:pPr marL="0" indent="0" algn="just">
              <a:buNone/>
            </a:pPr>
            <a:r>
              <a:rPr lang="fr-FR" sz="2000" dirty="0"/>
              <a:t>La phase d’analyse a permis d’identifier des groupements de personnes qui ont des comportements et des buts similaires. Pour chacun de ces groupes, il faut alors créer un persona, sous la forme d’une fiche synthétique (cf. Image 2).</a:t>
            </a:r>
          </a:p>
          <a:p>
            <a:pPr marL="0" indent="0" algn="just">
              <a:buNone/>
            </a:pPr>
            <a:r>
              <a:rPr lang="fr-FR" sz="2000" dirty="0"/>
              <a:t> Cette fiche peut prendre des formes différentes mais elle doit à minima contenir :</a:t>
            </a:r>
          </a:p>
          <a:p>
            <a:pPr algn="just">
              <a:buFont typeface="Arial" panose="020B0604020202020204" pitchFamily="34" charset="0"/>
              <a:buChar char="•"/>
            </a:pPr>
            <a:r>
              <a:rPr lang="fr-FR" sz="2000" dirty="0"/>
              <a:t>un prénom ;</a:t>
            </a:r>
          </a:p>
          <a:p>
            <a:pPr algn="just">
              <a:buFont typeface="Arial" panose="020B0604020202020204" pitchFamily="34" charset="0"/>
              <a:buChar char="•"/>
            </a:pPr>
            <a:r>
              <a:rPr lang="fr-FR" sz="2000" dirty="0"/>
              <a:t>une photo ;</a:t>
            </a:r>
          </a:p>
          <a:p>
            <a:pPr algn="just">
              <a:buFont typeface="Arial" panose="020B0604020202020204" pitchFamily="34" charset="0"/>
              <a:buChar char="•"/>
            </a:pPr>
            <a:r>
              <a:rPr lang="fr-FR" sz="2000" dirty="0"/>
              <a:t>un métier ;</a:t>
            </a:r>
          </a:p>
          <a:p>
            <a:pPr algn="just">
              <a:buFont typeface="Arial" panose="020B0604020202020204" pitchFamily="34" charset="0"/>
              <a:buChar char="•"/>
            </a:pPr>
            <a:r>
              <a:rPr lang="fr-FR" sz="2000" dirty="0"/>
              <a:t>un âge ;</a:t>
            </a:r>
          </a:p>
          <a:p>
            <a:pPr algn="just">
              <a:buFont typeface="Arial" panose="020B0604020202020204" pitchFamily="34" charset="0"/>
              <a:buChar char="•"/>
            </a:pPr>
            <a:r>
              <a:rPr lang="fr-FR" sz="2000" dirty="0"/>
              <a:t>et un récit (à la troisième personne) permettant de comprendre les buts poursuivis et les comportements observés. </a:t>
            </a:r>
          </a:p>
        </p:txBody>
      </p:sp>
      <p:sp>
        <p:nvSpPr>
          <p:cNvPr id="4" name="Titre 1">
            <a:extLst>
              <a:ext uri="{FF2B5EF4-FFF2-40B4-BE49-F238E27FC236}">
                <a16:creationId xmlns:a16="http://schemas.microsoft.com/office/drawing/2014/main" id="{7F92C141-29DB-D8AA-1142-A05E1D87375A}"/>
              </a:ext>
            </a:extLst>
          </p:cNvPr>
          <p:cNvSpPr>
            <a:spLocks noGrp="1"/>
          </p:cNvSpPr>
          <p:nvPr>
            <p:ph type="title"/>
          </p:nvPr>
        </p:nvSpPr>
        <p:spPr>
          <a:xfrm>
            <a:off x="874122" y="381631"/>
            <a:ext cx="8596668" cy="704296"/>
          </a:xfrm>
        </p:spPr>
        <p:txBody>
          <a:bodyPr>
            <a:normAutofit/>
          </a:bodyPr>
          <a:lstStyle/>
          <a:p>
            <a:pPr marL="857250" indent="-857250">
              <a:buFont typeface="+mj-lt"/>
              <a:buAutoNum type="romanUcPeriod" startAt="3"/>
            </a:pPr>
            <a:r>
              <a:rPr lang="fr-FR" dirty="0"/>
              <a:t>CREATION D’UN PERSONA</a:t>
            </a:r>
          </a:p>
        </p:txBody>
      </p:sp>
      <p:sp>
        <p:nvSpPr>
          <p:cNvPr id="5" name="Titre 1">
            <a:extLst>
              <a:ext uri="{FF2B5EF4-FFF2-40B4-BE49-F238E27FC236}">
                <a16:creationId xmlns:a16="http://schemas.microsoft.com/office/drawing/2014/main" id="{720E400C-4D99-6B09-B9AC-823A7612B5D1}"/>
              </a:ext>
            </a:extLst>
          </p:cNvPr>
          <p:cNvSpPr txBox="1">
            <a:spLocks/>
          </p:cNvSpPr>
          <p:nvPr/>
        </p:nvSpPr>
        <p:spPr>
          <a:xfrm>
            <a:off x="1717767" y="1085927"/>
            <a:ext cx="8596668" cy="420211"/>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742950" indent="-742950">
              <a:buFont typeface="+mj-lt"/>
              <a:buAutoNum type="alphaLcPeriod" startAt="3"/>
            </a:pPr>
            <a:r>
              <a:rPr lang="fr-FR" dirty="0"/>
              <a:t>Modélisation</a:t>
            </a:r>
          </a:p>
        </p:txBody>
      </p:sp>
    </p:spTree>
    <p:extLst>
      <p:ext uri="{BB962C8B-B14F-4D97-AF65-F5344CB8AC3E}">
        <p14:creationId xmlns:p14="http://schemas.microsoft.com/office/powerpoint/2010/main" val="3083232836"/>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28C5293-3429-E8CA-741D-BA4D8094FF9D}"/>
              </a:ext>
            </a:extLst>
          </p:cNvPr>
          <p:cNvSpPr>
            <a:spLocks noGrp="1"/>
          </p:cNvSpPr>
          <p:nvPr>
            <p:ph idx="1"/>
          </p:nvPr>
        </p:nvSpPr>
        <p:spPr>
          <a:xfrm>
            <a:off x="186431" y="1506139"/>
            <a:ext cx="9284359" cy="5036704"/>
          </a:xfrm>
        </p:spPr>
        <p:txBody>
          <a:bodyPr>
            <a:normAutofit/>
          </a:bodyPr>
          <a:lstStyle/>
          <a:p>
            <a:pPr algn="just"/>
            <a:r>
              <a:rPr lang="fr-FR" sz="2000" dirty="0"/>
              <a:t>Pour enrichir le persona, des éléments de situation, de contexte, d’environnement, d’interactions sociales etc. peuvent-être ajoutés. De nombreux modèles de </a:t>
            </a:r>
            <a:r>
              <a:rPr lang="fr-FR" sz="2000" dirty="0" err="1"/>
              <a:t>personas</a:t>
            </a:r>
            <a:r>
              <a:rPr lang="fr-FR" sz="2000" dirty="0"/>
              <a:t> peuvent-être trouvés sur le web ; voici un modèle avec des instructions </a:t>
            </a:r>
            <a:r>
              <a:rPr lang="fr-FR" sz="2000" i="1" dirty="0"/>
              <a:t>(voir page suivante - Image 2).</a:t>
            </a:r>
            <a:endParaRPr lang="fr-FR" sz="2000" b="0" i="1" dirty="0">
              <a:solidFill>
                <a:srgbClr val="636363"/>
              </a:solidFill>
              <a:effectLst/>
            </a:endParaRPr>
          </a:p>
          <a:p>
            <a:pPr algn="just"/>
            <a:r>
              <a:rPr lang="fr-FR" sz="2000" b="0" i="0" dirty="0">
                <a:solidFill>
                  <a:srgbClr val="636363"/>
                </a:solidFill>
                <a:effectLst/>
              </a:rPr>
              <a:t>Résultats</a:t>
            </a:r>
          </a:p>
          <a:p>
            <a:pPr marL="0" indent="0" algn="just">
              <a:buNone/>
            </a:pPr>
            <a:r>
              <a:rPr lang="fr-FR" sz="2000" b="0" i="0" dirty="0">
                <a:solidFill>
                  <a:srgbClr val="636363"/>
                </a:solidFill>
                <a:effectLst/>
              </a:rPr>
              <a:t>	À l’issue de ce travail, les </a:t>
            </a:r>
            <a:r>
              <a:rPr lang="fr-FR" sz="2000" b="0" i="0" dirty="0" err="1">
                <a:solidFill>
                  <a:srgbClr val="636363"/>
                </a:solidFill>
                <a:effectLst/>
              </a:rPr>
              <a:t>personas</a:t>
            </a:r>
            <a:r>
              <a:rPr lang="fr-FR" sz="2000" b="0" i="0" dirty="0">
                <a:solidFill>
                  <a:srgbClr val="636363"/>
                </a:solidFill>
                <a:effectLst/>
              </a:rPr>
              <a:t> sont créés et sont prêts à être utilisés.</a:t>
            </a:r>
          </a:p>
          <a:p>
            <a:pPr marL="0" indent="0" algn="just">
              <a:buNone/>
            </a:pPr>
            <a:endParaRPr lang="fr-FR" sz="2000" b="0" i="0" dirty="0">
              <a:solidFill>
                <a:srgbClr val="636363"/>
              </a:solidFill>
              <a:effectLst/>
            </a:endParaRPr>
          </a:p>
          <a:p>
            <a:pPr marL="0" indent="0" algn="just">
              <a:buNone/>
            </a:pPr>
            <a:endParaRPr lang="fr-FR" sz="2000" b="0" i="0" dirty="0">
              <a:solidFill>
                <a:srgbClr val="636363"/>
              </a:solidFill>
              <a:effectLst/>
            </a:endParaRPr>
          </a:p>
          <a:p>
            <a:pPr marL="0" indent="0" algn="just">
              <a:buNone/>
            </a:pPr>
            <a:endParaRPr lang="fr-FR" sz="2000" dirty="0">
              <a:solidFill>
                <a:srgbClr val="636363"/>
              </a:solidFill>
            </a:endParaRPr>
          </a:p>
          <a:p>
            <a:pPr marL="0" indent="0" algn="just">
              <a:buNone/>
            </a:pPr>
            <a:endParaRPr lang="fr-FR" sz="2000" dirty="0"/>
          </a:p>
        </p:txBody>
      </p:sp>
      <p:sp>
        <p:nvSpPr>
          <p:cNvPr id="4" name="Titre 1">
            <a:extLst>
              <a:ext uri="{FF2B5EF4-FFF2-40B4-BE49-F238E27FC236}">
                <a16:creationId xmlns:a16="http://schemas.microsoft.com/office/drawing/2014/main" id="{7F92C141-29DB-D8AA-1142-A05E1D87375A}"/>
              </a:ext>
            </a:extLst>
          </p:cNvPr>
          <p:cNvSpPr>
            <a:spLocks noGrp="1"/>
          </p:cNvSpPr>
          <p:nvPr>
            <p:ph type="title"/>
          </p:nvPr>
        </p:nvSpPr>
        <p:spPr>
          <a:xfrm>
            <a:off x="874122" y="381631"/>
            <a:ext cx="8596668" cy="704296"/>
          </a:xfrm>
        </p:spPr>
        <p:txBody>
          <a:bodyPr>
            <a:normAutofit/>
          </a:bodyPr>
          <a:lstStyle/>
          <a:p>
            <a:pPr marL="857250" indent="-857250">
              <a:buFont typeface="+mj-lt"/>
              <a:buAutoNum type="romanUcPeriod" startAt="3"/>
            </a:pPr>
            <a:r>
              <a:rPr lang="fr-FR" dirty="0"/>
              <a:t>CREATION D’UN PERSONA</a:t>
            </a:r>
          </a:p>
        </p:txBody>
      </p:sp>
      <p:sp>
        <p:nvSpPr>
          <p:cNvPr id="5" name="Titre 1">
            <a:extLst>
              <a:ext uri="{FF2B5EF4-FFF2-40B4-BE49-F238E27FC236}">
                <a16:creationId xmlns:a16="http://schemas.microsoft.com/office/drawing/2014/main" id="{720E400C-4D99-6B09-B9AC-823A7612B5D1}"/>
              </a:ext>
            </a:extLst>
          </p:cNvPr>
          <p:cNvSpPr txBox="1">
            <a:spLocks/>
          </p:cNvSpPr>
          <p:nvPr/>
        </p:nvSpPr>
        <p:spPr>
          <a:xfrm>
            <a:off x="1717767" y="1085927"/>
            <a:ext cx="8596668" cy="420211"/>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742950" indent="-742950">
              <a:buFont typeface="+mj-lt"/>
              <a:buAutoNum type="alphaLcPeriod" startAt="3"/>
            </a:pPr>
            <a:r>
              <a:rPr lang="fr-FR" dirty="0"/>
              <a:t>Modélisation</a:t>
            </a:r>
          </a:p>
        </p:txBody>
      </p:sp>
    </p:spTree>
    <p:extLst>
      <p:ext uri="{BB962C8B-B14F-4D97-AF65-F5344CB8AC3E}">
        <p14:creationId xmlns:p14="http://schemas.microsoft.com/office/powerpoint/2010/main" val="2361567961"/>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20E400C-4D99-6B09-B9AC-823A7612B5D1}"/>
              </a:ext>
            </a:extLst>
          </p:cNvPr>
          <p:cNvSpPr txBox="1">
            <a:spLocks/>
          </p:cNvSpPr>
          <p:nvPr/>
        </p:nvSpPr>
        <p:spPr>
          <a:xfrm>
            <a:off x="1540213" y="393468"/>
            <a:ext cx="8596668" cy="420211"/>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742950" indent="-742950">
              <a:buFont typeface="+mj-lt"/>
              <a:buAutoNum type="alphaLcPeriod" startAt="3"/>
            </a:pPr>
            <a:r>
              <a:rPr lang="fr-FR" dirty="0"/>
              <a:t>Modélisation (Suite et fin)</a:t>
            </a:r>
          </a:p>
        </p:txBody>
      </p:sp>
      <p:sp>
        <p:nvSpPr>
          <p:cNvPr id="12" name="Espace réservé du contenu 2">
            <a:extLst>
              <a:ext uri="{FF2B5EF4-FFF2-40B4-BE49-F238E27FC236}">
                <a16:creationId xmlns:a16="http://schemas.microsoft.com/office/drawing/2014/main" id="{85147BF2-A1D3-4301-DACA-7DF64B41B761}"/>
              </a:ext>
            </a:extLst>
          </p:cNvPr>
          <p:cNvSpPr>
            <a:spLocks noGrp="1"/>
          </p:cNvSpPr>
          <p:nvPr>
            <p:ph idx="1"/>
          </p:nvPr>
        </p:nvSpPr>
        <p:spPr>
          <a:xfrm>
            <a:off x="186431" y="1363338"/>
            <a:ext cx="9284360" cy="5322306"/>
          </a:xfrm>
        </p:spPr>
        <p:txBody>
          <a:bodyPr>
            <a:normAutofit/>
          </a:bodyPr>
          <a:lstStyle/>
          <a:p>
            <a:pPr marL="0" indent="0" algn="just">
              <a:buNone/>
            </a:pPr>
            <a:endParaRPr lang="fr-FR" sz="2000" b="0" i="0" dirty="0">
              <a:solidFill>
                <a:srgbClr val="636363"/>
              </a:solidFill>
              <a:effectLst/>
            </a:endParaRPr>
          </a:p>
          <a:p>
            <a:pPr marL="0" indent="0" algn="just">
              <a:buNone/>
            </a:pPr>
            <a:endParaRPr lang="fr-FR" sz="2000" b="0" i="0" dirty="0">
              <a:solidFill>
                <a:srgbClr val="636363"/>
              </a:solidFill>
              <a:effectLst/>
            </a:endParaRPr>
          </a:p>
          <a:p>
            <a:pPr marL="0" indent="0" algn="just">
              <a:buNone/>
            </a:pPr>
            <a:endParaRPr lang="fr-FR" sz="2000" dirty="0">
              <a:solidFill>
                <a:srgbClr val="636363"/>
              </a:solidFill>
            </a:endParaRPr>
          </a:p>
          <a:p>
            <a:pPr marL="0" indent="0" algn="just">
              <a:buNone/>
            </a:pPr>
            <a:endParaRPr lang="fr-FR" sz="2000" dirty="0"/>
          </a:p>
        </p:txBody>
      </p:sp>
      <p:pic>
        <p:nvPicPr>
          <p:cNvPr id="13" name="Image 12">
            <a:extLst>
              <a:ext uri="{FF2B5EF4-FFF2-40B4-BE49-F238E27FC236}">
                <a16:creationId xmlns:a16="http://schemas.microsoft.com/office/drawing/2014/main" id="{18B2EE04-C116-EC16-4B6F-95255BA230E0}"/>
              </a:ext>
            </a:extLst>
          </p:cNvPr>
          <p:cNvPicPr>
            <a:picLocks noChangeAspect="1"/>
          </p:cNvPicPr>
          <p:nvPr/>
        </p:nvPicPr>
        <p:blipFill>
          <a:blip r:embed="rId2"/>
          <a:stretch>
            <a:fillRect/>
          </a:stretch>
        </p:blipFill>
        <p:spPr>
          <a:xfrm>
            <a:off x="785479" y="813679"/>
            <a:ext cx="8224072" cy="5177536"/>
          </a:xfrm>
          <a:prstGeom prst="rect">
            <a:avLst/>
          </a:prstGeom>
        </p:spPr>
      </p:pic>
      <p:sp>
        <p:nvSpPr>
          <p:cNvPr id="18" name="ZoneTexte 17">
            <a:extLst>
              <a:ext uri="{FF2B5EF4-FFF2-40B4-BE49-F238E27FC236}">
                <a16:creationId xmlns:a16="http://schemas.microsoft.com/office/drawing/2014/main" id="{53C54A76-98BF-A1A4-66EB-8F1F445800DF}"/>
              </a:ext>
            </a:extLst>
          </p:cNvPr>
          <p:cNvSpPr txBox="1"/>
          <p:nvPr/>
        </p:nvSpPr>
        <p:spPr>
          <a:xfrm>
            <a:off x="905523" y="6279866"/>
            <a:ext cx="7537142" cy="369332"/>
          </a:xfrm>
          <a:prstGeom prst="rect">
            <a:avLst/>
          </a:prstGeom>
          <a:noFill/>
        </p:spPr>
        <p:txBody>
          <a:bodyPr wrap="square" rtlCol="0">
            <a:spAutoFit/>
          </a:bodyPr>
          <a:lstStyle/>
          <a:p>
            <a:r>
              <a:rPr lang="fr-FR" dirty="0"/>
              <a:t>Image 2: Exemple de modèle de fiche persona avec des instructions </a:t>
            </a:r>
          </a:p>
        </p:txBody>
      </p:sp>
    </p:spTree>
    <p:extLst>
      <p:ext uri="{BB962C8B-B14F-4D97-AF65-F5344CB8AC3E}">
        <p14:creationId xmlns:p14="http://schemas.microsoft.com/office/powerpoint/2010/main" val="2401600679"/>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180E269-1FA1-1D76-7026-4B389F4BAE94}"/>
              </a:ext>
            </a:extLst>
          </p:cNvPr>
          <p:cNvSpPr>
            <a:spLocks noGrp="1"/>
          </p:cNvSpPr>
          <p:nvPr>
            <p:ph idx="1"/>
          </p:nvPr>
        </p:nvSpPr>
        <p:spPr>
          <a:xfrm>
            <a:off x="135795" y="1506138"/>
            <a:ext cx="9878217" cy="3880773"/>
          </a:xfrm>
        </p:spPr>
        <p:txBody>
          <a:bodyPr>
            <a:normAutofit/>
          </a:bodyPr>
          <a:lstStyle/>
          <a:p>
            <a:pPr algn="just"/>
            <a:r>
              <a:rPr lang="fr-FR" sz="2000" b="0" i="0" dirty="0">
                <a:solidFill>
                  <a:srgbClr val="636363"/>
                </a:solidFill>
                <a:effectLst/>
              </a:rPr>
              <a:t>Les </a:t>
            </a:r>
            <a:r>
              <a:rPr lang="fr-FR" sz="2000" b="0" i="0" dirty="0" err="1">
                <a:solidFill>
                  <a:srgbClr val="636363"/>
                </a:solidFill>
                <a:effectLst/>
              </a:rPr>
              <a:t>personas</a:t>
            </a:r>
            <a:r>
              <a:rPr lang="fr-FR" sz="2000" b="0" i="0" dirty="0">
                <a:solidFill>
                  <a:srgbClr val="636363"/>
                </a:solidFill>
                <a:effectLst/>
              </a:rPr>
              <a:t> doivent être présentés et diffusés à l’équipe projet pour être utiles et utilisés lors de la conception du produit ou service. Ils peuvent être exploités en interne ou lors d’échanges avec des prestataires.</a:t>
            </a:r>
          </a:p>
          <a:p>
            <a:pPr algn="just"/>
            <a:r>
              <a:rPr lang="fr-FR" sz="2000" b="0" i="0" dirty="0">
                <a:solidFill>
                  <a:srgbClr val="636363"/>
                </a:solidFill>
                <a:effectLst/>
              </a:rPr>
              <a:t>Ils aident à conserver un certain focus dans une ou plusieurs équipes, à maintenir un cap commun entre plusieurs départements d'une même société et à questionner la validité d'un choix.</a:t>
            </a:r>
          </a:p>
          <a:p>
            <a:pPr algn="just"/>
            <a:endParaRPr lang="fr-FR" sz="2000" dirty="0"/>
          </a:p>
        </p:txBody>
      </p:sp>
      <p:sp>
        <p:nvSpPr>
          <p:cNvPr id="4" name="Titre 1">
            <a:extLst>
              <a:ext uri="{FF2B5EF4-FFF2-40B4-BE49-F238E27FC236}">
                <a16:creationId xmlns:a16="http://schemas.microsoft.com/office/drawing/2014/main" id="{53282832-0052-E011-E0E6-83F0D38A0810}"/>
              </a:ext>
            </a:extLst>
          </p:cNvPr>
          <p:cNvSpPr>
            <a:spLocks noGrp="1"/>
          </p:cNvSpPr>
          <p:nvPr>
            <p:ph type="title"/>
          </p:nvPr>
        </p:nvSpPr>
        <p:spPr>
          <a:xfrm>
            <a:off x="874122" y="381631"/>
            <a:ext cx="8596668" cy="704296"/>
          </a:xfrm>
        </p:spPr>
        <p:txBody>
          <a:bodyPr>
            <a:normAutofit/>
          </a:bodyPr>
          <a:lstStyle/>
          <a:p>
            <a:pPr marL="857250" indent="-857250">
              <a:buFont typeface="+mj-lt"/>
              <a:buAutoNum type="romanUcPeriod" startAt="3"/>
            </a:pPr>
            <a:r>
              <a:rPr lang="fr-FR" dirty="0"/>
              <a:t>CREATION D’UN PERSONA</a:t>
            </a:r>
          </a:p>
        </p:txBody>
      </p:sp>
      <p:sp>
        <p:nvSpPr>
          <p:cNvPr id="5" name="Titre 1">
            <a:extLst>
              <a:ext uri="{FF2B5EF4-FFF2-40B4-BE49-F238E27FC236}">
                <a16:creationId xmlns:a16="http://schemas.microsoft.com/office/drawing/2014/main" id="{33967BDB-7A29-25F1-B0ED-FF310D3576E3}"/>
              </a:ext>
            </a:extLst>
          </p:cNvPr>
          <p:cNvSpPr txBox="1">
            <a:spLocks/>
          </p:cNvSpPr>
          <p:nvPr/>
        </p:nvSpPr>
        <p:spPr>
          <a:xfrm>
            <a:off x="1717767" y="1085927"/>
            <a:ext cx="8596668" cy="420211"/>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742950" indent="-742950">
              <a:buFont typeface="+mj-lt"/>
              <a:buAutoNum type="alphaLcPeriod" startAt="4"/>
            </a:pPr>
            <a:r>
              <a:rPr lang="fr-FR" dirty="0"/>
              <a:t>Diffusion</a:t>
            </a:r>
          </a:p>
        </p:txBody>
      </p:sp>
    </p:spTree>
    <p:extLst>
      <p:ext uri="{BB962C8B-B14F-4D97-AF65-F5344CB8AC3E}">
        <p14:creationId xmlns:p14="http://schemas.microsoft.com/office/powerpoint/2010/main" val="1677521263"/>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D618B8-55B2-EC4B-75F0-4DD7A1FBABEB}"/>
              </a:ext>
            </a:extLst>
          </p:cNvPr>
          <p:cNvSpPr>
            <a:spLocks noGrp="1"/>
          </p:cNvSpPr>
          <p:nvPr>
            <p:ph type="title"/>
          </p:nvPr>
        </p:nvSpPr>
        <p:spPr>
          <a:xfrm>
            <a:off x="677685" y="210105"/>
            <a:ext cx="8596668" cy="713173"/>
          </a:xfrm>
        </p:spPr>
        <p:txBody>
          <a:bodyPr/>
          <a:lstStyle/>
          <a:p>
            <a:pPr marL="857250" indent="-857250">
              <a:buFont typeface="+mj-lt"/>
              <a:buAutoNum type="romanUcPeriod" startAt="4"/>
            </a:pPr>
            <a:r>
              <a:rPr lang="fr-FR" dirty="0"/>
              <a:t>EXEMPLE</a:t>
            </a:r>
          </a:p>
        </p:txBody>
      </p:sp>
      <p:pic>
        <p:nvPicPr>
          <p:cNvPr id="5" name="Espace réservé du contenu 4">
            <a:extLst>
              <a:ext uri="{FF2B5EF4-FFF2-40B4-BE49-F238E27FC236}">
                <a16:creationId xmlns:a16="http://schemas.microsoft.com/office/drawing/2014/main" id="{1F47D6D4-3797-AC14-C78E-F446EAB2F8DB}"/>
              </a:ext>
            </a:extLst>
          </p:cNvPr>
          <p:cNvPicPr>
            <a:picLocks noGrp="1" noChangeAspect="1"/>
          </p:cNvPicPr>
          <p:nvPr>
            <p:ph idx="1"/>
          </p:nvPr>
        </p:nvPicPr>
        <p:blipFill>
          <a:blip r:embed="rId2"/>
          <a:stretch>
            <a:fillRect/>
          </a:stretch>
        </p:blipFill>
        <p:spPr>
          <a:xfrm>
            <a:off x="758245" y="802955"/>
            <a:ext cx="8516108" cy="5327864"/>
          </a:xfrm>
        </p:spPr>
      </p:pic>
      <p:sp>
        <p:nvSpPr>
          <p:cNvPr id="4" name="ZoneTexte 3">
            <a:extLst>
              <a:ext uri="{FF2B5EF4-FFF2-40B4-BE49-F238E27FC236}">
                <a16:creationId xmlns:a16="http://schemas.microsoft.com/office/drawing/2014/main" id="{1E2545BE-6D16-C159-8AE0-382AF49491C3}"/>
              </a:ext>
            </a:extLst>
          </p:cNvPr>
          <p:cNvSpPr txBox="1"/>
          <p:nvPr/>
        </p:nvSpPr>
        <p:spPr>
          <a:xfrm>
            <a:off x="3111624" y="6162679"/>
            <a:ext cx="7228050" cy="369332"/>
          </a:xfrm>
          <a:prstGeom prst="rect">
            <a:avLst/>
          </a:prstGeom>
          <a:noFill/>
        </p:spPr>
        <p:txBody>
          <a:bodyPr wrap="square">
            <a:spAutoFit/>
          </a:bodyPr>
          <a:lstStyle/>
          <a:p>
            <a:r>
              <a:rPr lang="fr-FR" dirty="0"/>
              <a:t>Image 3 : Exemple de fiche persona </a:t>
            </a:r>
          </a:p>
        </p:txBody>
      </p:sp>
    </p:spTree>
    <p:extLst>
      <p:ext uri="{BB962C8B-B14F-4D97-AF65-F5344CB8AC3E}">
        <p14:creationId xmlns:p14="http://schemas.microsoft.com/office/powerpoint/2010/main" val="3098072265"/>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C1A267-1A02-3B0D-312A-B3F0AD457DC8}"/>
              </a:ext>
            </a:extLst>
          </p:cNvPr>
          <p:cNvSpPr>
            <a:spLocks noGrp="1"/>
          </p:cNvSpPr>
          <p:nvPr>
            <p:ph type="title"/>
          </p:nvPr>
        </p:nvSpPr>
        <p:spPr>
          <a:xfrm>
            <a:off x="677334" y="609600"/>
            <a:ext cx="8596668" cy="828583"/>
          </a:xfrm>
        </p:spPr>
        <p:txBody>
          <a:bodyPr/>
          <a:lstStyle/>
          <a:p>
            <a:pPr algn="ctr"/>
            <a:r>
              <a:rPr lang="fr-FR" dirty="0"/>
              <a:t>CONCLUSION</a:t>
            </a:r>
          </a:p>
        </p:txBody>
      </p:sp>
      <p:sp>
        <p:nvSpPr>
          <p:cNvPr id="3" name="Espace réservé du contenu 2">
            <a:extLst>
              <a:ext uri="{FF2B5EF4-FFF2-40B4-BE49-F238E27FC236}">
                <a16:creationId xmlns:a16="http://schemas.microsoft.com/office/drawing/2014/main" id="{2583F149-755C-47BA-403C-8E32F00AEC45}"/>
              </a:ext>
            </a:extLst>
          </p:cNvPr>
          <p:cNvSpPr>
            <a:spLocks noGrp="1"/>
          </p:cNvSpPr>
          <p:nvPr>
            <p:ph idx="1"/>
          </p:nvPr>
        </p:nvSpPr>
        <p:spPr>
          <a:xfrm>
            <a:off x="389036" y="1438183"/>
            <a:ext cx="9173264" cy="4603179"/>
          </a:xfrm>
        </p:spPr>
        <p:txBody>
          <a:bodyPr/>
          <a:lstStyle/>
          <a:p>
            <a:pPr marL="0" indent="0" algn="just">
              <a:lnSpc>
                <a:spcPct val="150000"/>
              </a:lnSpc>
              <a:buNone/>
            </a:pPr>
            <a:r>
              <a:rPr lang="fr-FR" dirty="0">
                <a:solidFill>
                  <a:srgbClr val="343434"/>
                </a:solidFill>
                <a:latin typeface="Lato" panose="020F0502020204030203" pitchFamily="34" charset="0"/>
              </a:rPr>
              <a:t>E</a:t>
            </a:r>
            <a:r>
              <a:rPr lang="fr-FR" b="0" i="0" dirty="0">
                <a:solidFill>
                  <a:srgbClr val="343434"/>
                </a:solidFill>
                <a:effectLst/>
                <a:latin typeface="Lato" panose="020F0502020204030203" pitchFamily="34" charset="0"/>
              </a:rPr>
              <a:t>n ergonomie web, la construction de </a:t>
            </a:r>
            <a:r>
              <a:rPr lang="fr-FR" b="0" i="0" dirty="0" err="1">
                <a:solidFill>
                  <a:srgbClr val="343434"/>
                </a:solidFill>
                <a:effectLst/>
                <a:latin typeface="Lato" panose="020F0502020204030203" pitchFamily="34" charset="0"/>
              </a:rPr>
              <a:t>personas</a:t>
            </a:r>
            <a:r>
              <a:rPr lang="fr-FR" b="0" i="0" dirty="0">
                <a:solidFill>
                  <a:srgbClr val="343434"/>
                </a:solidFill>
                <a:effectLst/>
                <a:latin typeface="Lato" panose="020F0502020204030203" pitchFamily="34" charset="0"/>
              </a:rPr>
              <a:t> a une importance significative. Même si l’invention d’Alan Cooper est assez facile à comprendre conceptuellement, sa mise en œuvre pratique s’avère plus complexe. Maîtriser la méthode des </a:t>
            </a:r>
            <a:r>
              <a:rPr lang="fr-FR" b="0" i="0" dirty="0" err="1">
                <a:solidFill>
                  <a:srgbClr val="343434"/>
                </a:solidFill>
                <a:effectLst/>
                <a:latin typeface="Lato" panose="020F0502020204030203" pitchFamily="34" charset="0"/>
              </a:rPr>
              <a:t>personas</a:t>
            </a:r>
            <a:r>
              <a:rPr lang="fr-FR" b="0" i="0" dirty="0">
                <a:solidFill>
                  <a:srgbClr val="343434"/>
                </a:solidFill>
                <a:effectLst/>
                <a:latin typeface="Lato" panose="020F0502020204030203" pitchFamily="34" charset="0"/>
              </a:rPr>
              <a:t> demande un investissement personnel et des recherches qualitatives. Bien comprise, cette technique permet de de se rapprocher des  besoins Utilisateur. C’est alors un excellent moyen de donner vie au design d’interface et d’offrir une meilleure expérience utilisateur.</a:t>
            </a:r>
            <a:endParaRPr lang="fr-FR" dirty="0"/>
          </a:p>
        </p:txBody>
      </p:sp>
    </p:spTree>
    <p:extLst>
      <p:ext uri="{BB962C8B-B14F-4D97-AF65-F5344CB8AC3E}">
        <p14:creationId xmlns:p14="http://schemas.microsoft.com/office/powerpoint/2010/main" val="2908176913"/>
      </p:ext>
    </p:extLst>
  </p:cSld>
  <p:clrMapOvr>
    <a:masterClrMapping/>
  </p:clrMapOvr>
  <p:transition spd="slow">
    <p:cover/>
  </p:transition>
</p:sld>
</file>

<file path=ppt/theme/theme1.xml><?xml version="1.0" encoding="utf-8"?>
<a:theme xmlns:a="http://schemas.openxmlformats.org/drawingml/2006/main" name="Facette">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1192</TotalTime>
  <Words>1505</Words>
  <Application>Microsoft Office PowerPoint</Application>
  <PresentationFormat>Grand écran</PresentationFormat>
  <Paragraphs>122</Paragraphs>
  <Slides>19</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19</vt:i4>
      </vt:variant>
    </vt:vector>
  </HeadingPairs>
  <TitlesOfParts>
    <vt:vector size="27" baseType="lpstr">
      <vt:lpstr>Arial</vt:lpstr>
      <vt:lpstr>Calibri</vt:lpstr>
      <vt:lpstr>Lato</vt:lpstr>
      <vt:lpstr>Roboto</vt:lpstr>
      <vt:lpstr>Trebuchet MS</vt:lpstr>
      <vt:lpstr>Wingdings</vt:lpstr>
      <vt:lpstr>Wingdings 3</vt:lpstr>
      <vt:lpstr>Facette</vt:lpstr>
      <vt:lpstr>UTILISATION DES PERSONAS EN ERGONOMIE DES INTERFACES WEB</vt:lpstr>
      <vt:lpstr>PLAN</vt:lpstr>
      <vt:lpstr>INTRODUCTION</vt:lpstr>
      <vt:lpstr>Ergonomie des Interfaces Web  </vt:lpstr>
      <vt:lpstr>Méthode des Personas en Ergonomie</vt:lpstr>
      <vt:lpstr>Méthode des Personas en Ergonomie</vt:lpstr>
      <vt:lpstr>Méthode des Personas en Ergonomie</vt:lpstr>
      <vt:lpstr>Présentation PowerPoint</vt:lpstr>
      <vt:lpstr>Méthode des Personas en Ergonomie</vt:lpstr>
      <vt:lpstr>Méthode des Personas en Ergonomie</vt:lpstr>
      <vt:lpstr>CREATION D’UN PERSONA</vt:lpstr>
      <vt:lpstr>CREATION D’UN PERSONA</vt:lpstr>
      <vt:lpstr>CREATION D’UN PERSONA</vt:lpstr>
      <vt:lpstr>CREATION D’UN PERSONA</vt:lpstr>
      <vt:lpstr>CREATION D’UN PERSONA</vt:lpstr>
      <vt:lpstr>Présentation PowerPoint</vt:lpstr>
      <vt:lpstr>CREATION D’UN PERSONA</vt:lpstr>
      <vt:lpstr>EXEMPLE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UTILISATION DES PERSONAS EN ERGONOMIE DES INTERFACES WEB</dc:title>
  <dc:creator>mrdeck30@gmail.com</dc:creator>
  <cp:lastModifiedBy>mrdeck30@gmail.com</cp:lastModifiedBy>
  <cp:revision>82</cp:revision>
  <dcterms:created xsi:type="dcterms:W3CDTF">2022-12-08T08:45:34Z</dcterms:created>
  <dcterms:modified xsi:type="dcterms:W3CDTF">2022-12-15T23:12:14Z</dcterms:modified>
</cp:coreProperties>
</file>